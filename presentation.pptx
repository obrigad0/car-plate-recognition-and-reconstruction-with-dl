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ile medio 2 - Color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70" d="100"/>
          <a:sy n="70" d="100"/>
        </p:scale>
        <p:origin x="63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5245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82929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2568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54535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06599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7/21/2025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30546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7/21/2025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96183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62096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96423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33055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090746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38F49-B3E2-4BF0-BEC7-C30D34ABBB8D}" type="datetime1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324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A4A45B-55C8-5799-46C8-47C2439109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117" y="952500"/>
            <a:ext cx="5489118" cy="3524250"/>
          </a:xfrm>
        </p:spPr>
        <p:txBody>
          <a:bodyPr>
            <a:normAutofit fontScale="90000"/>
          </a:bodyPr>
          <a:lstStyle/>
          <a:p>
            <a:r>
              <a:rPr lang="en-US" dirty="0"/>
              <a:t>Car Plate Recognition and</a:t>
            </a:r>
            <a:br>
              <a:rPr lang="en-US" dirty="0"/>
            </a:br>
            <a:r>
              <a:rPr lang="en-US" dirty="0"/>
              <a:t>Reconstruction with Deep Learning</a:t>
            </a:r>
            <a:endParaRPr lang="it-IT" sz="5800" dirty="0"/>
          </a:p>
        </p:txBody>
      </p:sp>
      <p:sp>
        <p:nvSpPr>
          <p:cNvPr id="8" name="Sottotitolo 7">
            <a:extLst>
              <a:ext uri="{FF2B5EF4-FFF2-40B4-BE49-F238E27FC236}">
                <a16:creationId xmlns:a16="http://schemas.microsoft.com/office/drawing/2014/main" id="{65B04A67-AAF5-3BBA-8F7F-AE078195E8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117" y="5023431"/>
            <a:ext cx="5833674" cy="1287887"/>
          </a:xfrm>
        </p:spPr>
        <p:txBody>
          <a:bodyPr>
            <a:normAutofit lnSpcReduction="10000"/>
          </a:bodyPr>
          <a:lstStyle/>
          <a:p>
            <a:r>
              <a:rPr lang="it-IT" cap="none" spc="0" dirty="0">
                <a:latin typeface="Arial Nova Light" panose="020B0304020202020204" pitchFamily="34" charset="0"/>
              </a:rPr>
              <a:t>Computer Vision – A.A. 2024-2025</a:t>
            </a:r>
          </a:p>
          <a:p>
            <a:r>
              <a:rPr lang="it-IT" b="0" cap="none" spc="0" dirty="0">
                <a:latin typeface="Arial Nova Light" panose="020B0304020202020204" pitchFamily="34" charset="0"/>
              </a:rPr>
              <a:t>Flavio Corsetti – 1997818</a:t>
            </a:r>
          </a:p>
          <a:p>
            <a:r>
              <a:rPr lang="it-IT" b="0" cap="none" spc="0" dirty="0">
                <a:latin typeface="Arial Nova Light" panose="020B0304020202020204" pitchFamily="34" charset="0"/>
              </a:rPr>
              <a:t>Federica Sardo - 1760539</a:t>
            </a:r>
          </a:p>
        </p:txBody>
      </p:sp>
      <p:pic>
        <p:nvPicPr>
          <p:cNvPr id="4" name="Picture 3" descr="Sfondo tecnologia di rete">
            <a:extLst>
              <a:ext uri="{FF2B5EF4-FFF2-40B4-BE49-F238E27FC236}">
                <a16:creationId xmlns:a16="http://schemas.microsoft.com/office/drawing/2014/main" id="{B3A1B076-9E9B-EB1C-C0DE-BA3FFDE024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729" r="3408" b="-1"/>
          <a:stretch>
            <a:fillRect/>
          </a:stretch>
        </p:blipFill>
        <p:spPr>
          <a:xfrm>
            <a:off x="6433930" y="10"/>
            <a:ext cx="5758069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635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CF8DB3-717B-847D-E1F0-52CF679E3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89A602A-B76B-8342-3E2B-D1F0FAE34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● Title: Report the project name, your names, and course information</a:t>
            </a:r>
          </a:p>
          <a:p>
            <a:r>
              <a:rPr lang="en-US" dirty="0"/>
              <a:t>● Outline: Briefly describe the presentation workflow</a:t>
            </a:r>
          </a:p>
          <a:p>
            <a:r>
              <a:rPr lang="en-US" dirty="0"/>
              <a:t>● Problem Statement: The challenge you are addressing</a:t>
            </a:r>
          </a:p>
          <a:p>
            <a:r>
              <a:rPr lang="en-US" dirty="0"/>
              <a:t>● State of the Art: How current research approaches this challenge</a:t>
            </a:r>
          </a:p>
          <a:p>
            <a:r>
              <a:rPr lang="en-US" dirty="0"/>
              <a:t>● Proposed Method: How you approached this challenge</a:t>
            </a:r>
          </a:p>
          <a:p>
            <a:r>
              <a:rPr lang="en-US" dirty="0"/>
              <a:t>● Dataset: The data you used for the project</a:t>
            </a:r>
          </a:p>
          <a:p>
            <a:r>
              <a:rPr lang="en-US" dirty="0"/>
              <a:t>● Experimental Setup: How you configured the elements of the project</a:t>
            </a:r>
          </a:p>
          <a:p>
            <a:r>
              <a:rPr lang="en-US" dirty="0"/>
              <a:t>● Model Evaluation: How you assessed the performance of your model</a:t>
            </a:r>
          </a:p>
          <a:p>
            <a:r>
              <a:rPr lang="en-US" dirty="0"/>
              <a:t>● Conclusions: Final considerations and future work</a:t>
            </a:r>
          </a:p>
          <a:p>
            <a:r>
              <a:rPr lang="en-US" dirty="0"/>
              <a:t>● References: Where you drew inspiration from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70014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177200-C473-2FFD-3944-8B3DE9BA3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Outline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AF3AB6B-3794-87CB-227B-ABBB48A07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97458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4513E0-ED19-BBD1-3931-5FB610CA6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Introduction</a:t>
            </a:r>
            <a:endParaRPr lang="it-IT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5C646E6-4453-3C55-5208-49CAEF9B40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 license plate recognition (ALPR) is a critical task in intelligent transportation systems, traffic monitoring, and security.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Detecting license plates accurately in real-world conditions is challenging due to: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Varying lighting and weather conditions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Different plate sizes, colors, fonts, and formats across regions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Occlusions, motion blur, and low image quality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Precise plate detection is the first crucial step before character recognition can be performed.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computer vision methods struggle with real-time accuracy and robustness.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 learning techniques, especially object detectors like YOLO, have significantly improved detection accuracy and speed.</a:t>
            </a:r>
          </a:p>
        </p:txBody>
      </p:sp>
    </p:spTree>
    <p:extLst>
      <p:ext uri="{BB962C8B-B14F-4D97-AF65-F5344CB8AC3E}">
        <p14:creationId xmlns:p14="http://schemas.microsoft.com/office/powerpoint/2010/main" val="2635113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8B68438-364F-49F4-F718-0E0DE54CF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Related</a:t>
            </a:r>
            <a:r>
              <a:rPr lang="it-IT" dirty="0"/>
              <a:t> works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2AC3CD5-B3F6-3726-0117-5FBC35221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26073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E5EBB79-92C2-2D89-6ECB-6713ECEF4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Proposed</a:t>
            </a:r>
            <a:r>
              <a:rPr lang="it-IT" dirty="0"/>
              <a:t> Method: </a:t>
            </a:r>
            <a:r>
              <a:rPr lang="it-IT" dirty="0" err="1"/>
              <a:t>Unified</a:t>
            </a:r>
            <a:r>
              <a:rPr lang="it-IT" dirty="0"/>
              <a:t> ResNet18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ED8BF74-0813-84BB-C78F-9BD0D6B48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Key points:</a:t>
            </a:r>
            <a:endParaRPr lang="en-US" dirty="0"/>
          </a:p>
          <a:p>
            <a:r>
              <a:rPr lang="en-US" b="1" dirty="0"/>
              <a:t>Unified Model Architecture:</a:t>
            </a:r>
            <a:br>
              <a:rPr lang="en-US" dirty="0"/>
            </a:br>
            <a:r>
              <a:rPr lang="en-US" dirty="0"/>
              <a:t>A single ResNet18-based backbone with two possible heads:</a:t>
            </a:r>
          </a:p>
          <a:p>
            <a:pPr lvl="1"/>
            <a:r>
              <a:rPr lang="en-US" b="1" dirty="0"/>
              <a:t>Bounding Box Head:</a:t>
            </a:r>
            <a:r>
              <a:rPr lang="en-US" dirty="0"/>
              <a:t> predicts plate location as 4 normalized coordinates.</a:t>
            </a:r>
          </a:p>
          <a:p>
            <a:pPr lvl="1"/>
            <a:r>
              <a:rPr lang="en-US" b="1" dirty="0"/>
              <a:t>OCR Head:</a:t>
            </a:r>
            <a:r>
              <a:rPr lang="en-US" dirty="0"/>
              <a:t> predicts characters on the plate via multi-head classification (7 characters, 68 possible classes).</a:t>
            </a:r>
          </a:p>
          <a:p>
            <a:r>
              <a:rPr lang="en-US" b="1" dirty="0"/>
              <a:t>Design Highlights:</a:t>
            </a:r>
            <a:endParaRPr lang="en-US" dirty="0"/>
          </a:p>
          <a:p>
            <a:pPr lvl="1"/>
            <a:r>
              <a:rPr lang="en-US" dirty="0"/>
              <a:t>Shared feature extractor (ResNet18) reduces computation and training time.</a:t>
            </a:r>
          </a:p>
          <a:p>
            <a:pPr lvl="1"/>
            <a:r>
              <a:rPr lang="en-US" dirty="0"/>
              <a:t>Separate heads specialized for their tasks improve accuracy and flexibility.</a:t>
            </a:r>
          </a:p>
          <a:p>
            <a:pPr lvl="1"/>
            <a:r>
              <a:rPr lang="en-US" dirty="0"/>
              <a:t>Dropout and batch normalization used to improve generalization.</a:t>
            </a:r>
          </a:p>
          <a:p>
            <a:r>
              <a:rPr lang="en-US" b="1" dirty="0"/>
              <a:t>Advantages:</a:t>
            </a:r>
            <a:endParaRPr lang="en-US" dirty="0"/>
          </a:p>
          <a:p>
            <a:pPr lvl="1"/>
            <a:r>
              <a:rPr lang="en-US" dirty="0"/>
              <a:t>Simplifies pipeline by combining plate detection and recognition into one architecture.</a:t>
            </a:r>
          </a:p>
          <a:p>
            <a:pPr lvl="1"/>
            <a:r>
              <a:rPr lang="en-US" dirty="0"/>
              <a:t>Easily saved and loaded in parts for modular training and inference.</a:t>
            </a:r>
          </a:p>
          <a:p>
            <a:pPr lvl="1"/>
            <a:r>
              <a:rPr lang="en-US" dirty="0"/>
              <a:t>Works effectively on diverse plates by learning both spatial and character features.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00752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testo, Targa di veicolo, veicolo, Veicolo terrestre&#10;&#10;Il contenuto generato dall'IA potrebbe non essere corretto.">
            <a:extLst>
              <a:ext uri="{FF2B5EF4-FFF2-40B4-BE49-F238E27FC236}">
                <a16:creationId xmlns:a16="http://schemas.microsoft.com/office/drawing/2014/main" id="{B97DDB17-7F2B-21C0-B821-FB77EFD01F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891" y="1530625"/>
            <a:ext cx="2014332" cy="3245312"/>
          </a:xfrm>
          <a:prstGeom prst="rect">
            <a:avLst/>
          </a:prstGeom>
        </p:spPr>
      </p:pic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5D70E19D-BF72-1DDD-7A17-73D6E1EB4454}"/>
              </a:ext>
            </a:extLst>
          </p:cNvPr>
          <p:cNvCxnSpPr>
            <a:cxnSpLocks/>
          </p:cNvCxnSpPr>
          <p:nvPr/>
        </p:nvCxnSpPr>
        <p:spPr>
          <a:xfrm>
            <a:off x="2829422" y="3074502"/>
            <a:ext cx="10667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ttangolo 9">
            <a:extLst>
              <a:ext uri="{FF2B5EF4-FFF2-40B4-BE49-F238E27FC236}">
                <a16:creationId xmlns:a16="http://schemas.microsoft.com/office/drawing/2014/main" id="{A028B7F4-8D5B-ADA8-ED27-B44C588283C7}"/>
              </a:ext>
            </a:extLst>
          </p:cNvPr>
          <p:cNvSpPr/>
          <p:nvPr/>
        </p:nvSpPr>
        <p:spPr>
          <a:xfrm>
            <a:off x="3889512" y="2176668"/>
            <a:ext cx="2073965" cy="17956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Shared</a:t>
            </a:r>
            <a:r>
              <a:rPr lang="it-IT" dirty="0"/>
              <a:t> </a:t>
            </a:r>
            <a:r>
              <a:rPr lang="it-IT" dirty="0" err="1"/>
              <a:t>Convolutional</a:t>
            </a:r>
            <a:r>
              <a:rPr lang="it-IT" dirty="0"/>
              <a:t> Architecture</a:t>
            </a:r>
            <a:r>
              <a:rPr lang="it-IT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</a:p>
          <a:p>
            <a:pPr algn="ctr"/>
            <a:r>
              <a:rPr lang="it-IT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ResNet18</a:t>
            </a:r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45A3A4EC-3D9F-52D6-69A3-EF3300D4284C}"/>
              </a:ext>
            </a:extLst>
          </p:cNvPr>
          <p:cNvCxnSpPr>
            <a:cxnSpLocks/>
          </p:cNvCxnSpPr>
          <p:nvPr/>
        </p:nvCxnSpPr>
        <p:spPr>
          <a:xfrm flipV="1">
            <a:off x="5963477" y="3074502"/>
            <a:ext cx="1761841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801CB036-E0B3-513B-D54F-D27E408C0F36}"/>
              </a:ext>
            </a:extLst>
          </p:cNvPr>
          <p:cNvCxnSpPr>
            <a:cxnSpLocks/>
          </p:cNvCxnSpPr>
          <p:nvPr/>
        </p:nvCxnSpPr>
        <p:spPr>
          <a:xfrm>
            <a:off x="7725318" y="1272209"/>
            <a:ext cx="19879" cy="31010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507777FA-A7DD-8C69-01D0-17B902B730C4}"/>
              </a:ext>
            </a:extLst>
          </p:cNvPr>
          <p:cNvCxnSpPr/>
          <p:nvPr/>
        </p:nvCxnSpPr>
        <p:spPr>
          <a:xfrm>
            <a:off x="7712065" y="1258956"/>
            <a:ext cx="13450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31363814-257C-120E-1F0E-47A701205B5A}"/>
              </a:ext>
            </a:extLst>
          </p:cNvPr>
          <p:cNvCxnSpPr>
            <a:cxnSpLocks/>
          </p:cNvCxnSpPr>
          <p:nvPr/>
        </p:nvCxnSpPr>
        <p:spPr>
          <a:xfrm>
            <a:off x="7745197" y="4373218"/>
            <a:ext cx="13119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ttangolo 20">
            <a:extLst>
              <a:ext uri="{FF2B5EF4-FFF2-40B4-BE49-F238E27FC236}">
                <a16:creationId xmlns:a16="http://schemas.microsoft.com/office/drawing/2014/main" id="{E7509DD0-50CB-89FE-059E-F440D806F1A6}"/>
              </a:ext>
            </a:extLst>
          </p:cNvPr>
          <p:cNvSpPr/>
          <p:nvPr/>
        </p:nvSpPr>
        <p:spPr>
          <a:xfrm>
            <a:off x="9077040" y="4014063"/>
            <a:ext cx="2365513" cy="95455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b="1" dirty="0"/>
              <a:t>OCR </a:t>
            </a:r>
            <a:r>
              <a:rPr lang="it-IT" dirty="0"/>
              <a:t>linear part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20C3CC9C-C3B1-51A9-3EAD-241069657C85}"/>
              </a:ext>
            </a:extLst>
          </p:cNvPr>
          <p:cNvSpPr/>
          <p:nvPr/>
        </p:nvSpPr>
        <p:spPr>
          <a:xfrm>
            <a:off x="9070410" y="781676"/>
            <a:ext cx="2365513" cy="95455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b="1" dirty="0" err="1"/>
              <a:t>Bounding</a:t>
            </a:r>
            <a:r>
              <a:rPr lang="it-IT" b="1" dirty="0"/>
              <a:t> Box </a:t>
            </a:r>
            <a:r>
              <a:rPr lang="it-IT" dirty="0"/>
              <a:t>linear part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1FAF735B-6006-97BA-00C1-1CDD2B92D9EB}"/>
              </a:ext>
            </a:extLst>
          </p:cNvPr>
          <p:cNvSpPr txBox="1"/>
          <p:nvPr/>
        </p:nvSpPr>
        <p:spPr>
          <a:xfrm>
            <a:off x="7692190" y="902876"/>
            <a:ext cx="371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1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3E839ED9-3315-C146-8B99-A2AD718AC4F3}"/>
              </a:ext>
            </a:extLst>
          </p:cNvPr>
          <p:cNvSpPr txBox="1"/>
          <p:nvPr/>
        </p:nvSpPr>
        <p:spPr>
          <a:xfrm>
            <a:off x="7745197" y="4386470"/>
            <a:ext cx="371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2</a:t>
            </a:r>
          </a:p>
        </p:txBody>
      </p:sp>
      <p:pic>
        <p:nvPicPr>
          <p:cNvPr id="37" name="Immagine 36" descr="Immagine che contiene testo, segnaletica, Carattere, cartello&#10;&#10;Il contenuto generato dall'IA potrebbe non essere corretto.">
            <a:extLst>
              <a:ext uri="{FF2B5EF4-FFF2-40B4-BE49-F238E27FC236}">
                <a16:creationId xmlns:a16="http://schemas.microsoft.com/office/drawing/2014/main" id="{F7CA31B2-DC73-AF65-F1FB-96834F3823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2578" y="2690404"/>
            <a:ext cx="1781175" cy="542925"/>
          </a:xfrm>
          <a:prstGeom prst="rect">
            <a:avLst/>
          </a:prstGeom>
        </p:spPr>
      </p:pic>
      <p:cxnSp>
        <p:nvCxnSpPr>
          <p:cNvPr id="57" name="Connettore 2 56">
            <a:extLst>
              <a:ext uri="{FF2B5EF4-FFF2-40B4-BE49-F238E27FC236}">
                <a16:creationId xmlns:a16="http://schemas.microsoft.com/office/drawing/2014/main" id="{EFF032B7-6453-3E3A-FD77-FA1E4A69D586}"/>
              </a:ext>
            </a:extLst>
          </p:cNvPr>
          <p:cNvCxnSpPr>
            <a:stCxn id="22" idx="2"/>
            <a:endCxn id="37" idx="0"/>
          </p:cNvCxnSpPr>
          <p:nvPr/>
        </p:nvCxnSpPr>
        <p:spPr>
          <a:xfrm flipH="1">
            <a:off x="10253166" y="1736235"/>
            <a:ext cx="1" cy="954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ttore 2 58">
            <a:extLst>
              <a:ext uri="{FF2B5EF4-FFF2-40B4-BE49-F238E27FC236}">
                <a16:creationId xmlns:a16="http://schemas.microsoft.com/office/drawing/2014/main" id="{79890C39-69B6-54B2-D572-22586F201252}"/>
              </a:ext>
            </a:extLst>
          </p:cNvPr>
          <p:cNvCxnSpPr>
            <a:stCxn id="37" idx="2"/>
            <a:endCxn id="21" idx="0"/>
          </p:cNvCxnSpPr>
          <p:nvPr/>
        </p:nvCxnSpPr>
        <p:spPr>
          <a:xfrm>
            <a:off x="10253166" y="3233329"/>
            <a:ext cx="6631" cy="780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ttore 2 60">
            <a:extLst>
              <a:ext uri="{FF2B5EF4-FFF2-40B4-BE49-F238E27FC236}">
                <a16:creationId xmlns:a16="http://schemas.microsoft.com/office/drawing/2014/main" id="{07DADC82-EAFD-0195-AF64-E095B85EF174}"/>
              </a:ext>
            </a:extLst>
          </p:cNvPr>
          <p:cNvCxnSpPr>
            <a:stCxn id="21" idx="2"/>
          </p:cNvCxnSpPr>
          <p:nvPr/>
        </p:nvCxnSpPr>
        <p:spPr>
          <a:xfrm>
            <a:off x="10259797" y="4968622"/>
            <a:ext cx="0" cy="7298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C1D28CE9-35E8-8061-52EA-3350F4290381}"/>
              </a:ext>
            </a:extLst>
          </p:cNvPr>
          <p:cNvSpPr txBox="1"/>
          <p:nvPr/>
        </p:nvSpPr>
        <p:spPr>
          <a:xfrm>
            <a:off x="9587551" y="5738515"/>
            <a:ext cx="1331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 </a:t>
            </a:r>
            <a:r>
              <a:rPr lang="ja-JP" altLang="it-IT" dirty="0"/>
              <a:t>皖</a:t>
            </a:r>
            <a:r>
              <a:rPr lang="it-IT" dirty="0"/>
              <a:t>AR0011</a:t>
            </a:r>
          </a:p>
        </p:txBody>
      </p:sp>
      <p:sp>
        <p:nvSpPr>
          <p:cNvPr id="63" name="Titolo 1">
            <a:extLst>
              <a:ext uri="{FF2B5EF4-FFF2-40B4-BE49-F238E27FC236}">
                <a16:creationId xmlns:a16="http://schemas.microsoft.com/office/drawing/2014/main" id="{45FFD718-1FCF-15BD-0F77-D9F294A04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4" y="352505"/>
            <a:ext cx="4268571" cy="1097280"/>
          </a:xfrm>
        </p:spPr>
        <p:txBody>
          <a:bodyPr>
            <a:normAutofit/>
          </a:bodyPr>
          <a:lstStyle/>
          <a:p>
            <a:r>
              <a:rPr lang="it-IT" dirty="0" err="1"/>
              <a:t>Unified</a:t>
            </a:r>
            <a:r>
              <a:rPr lang="it-IT" dirty="0"/>
              <a:t> ResNet18</a:t>
            </a:r>
          </a:p>
        </p:txBody>
      </p:sp>
      <p:pic>
        <p:nvPicPr>
          <p:cNvPr id="66" name="Immagine 65" descr="Immagine che contiene design, penna&#10;&#10;Il contenuto generato dall'IA potrebbe non essere corretto.">
            <a:extLst>
              <a:ext uri="{FF2B5EF4-FFF2-40B4-BE49-F238E27FC236}">
                <a16:creationId xmlns:a16="http://schemas.microsoft.com/office/drawing/2014/main" id="{0D06060A-86F4-40E1-0EA2-51346F637C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020" y="4789188"/>
            <a:ext cx="6395875" cy="1723124"/>
          </a:xfrm>
          <a:prstGeom prst="rect">
            <a:avLst/>
          </a:prstGeom>
        </p:spPr>
      </p:pic>
      <p:cxnSp>
        <p:nvCxnSpPr>
          <p:cNvPr id="68" name="Connettore 2 67">
            <a:extLst>
              <a:ext uri="{FF2B5EF4-FFF2-40B4-BE49-F238E27FC236}">
                <a16:creationId xmlns:a16="http://schemas.microsoft.com/office/drawing/2014/main" id="{C191C586-9620-38C4-4753-9D0501B569CF}"/>
              </a:ext>
            </a:extLst>
          </p:cNvPr>
          <p:cNvCxnSpPr>
            <a:stCxn id="10" idx="2"/>
          </p:cNvCxnSpPr>
          <p:nvPr/>
        </p:nvCxnSpPr>
        <p:spPr>
          <a:xfrm flipH="1">
            <a:off x="4926494" y="3972337"/>
            <a:ext cx="1" cy="777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382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C2B9D8-6CE4-F11A-812B-288DEEAE4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Paper </a:t>
            </a:r>
            <a:r>
              <a:rPr lang="it-IT" dirty="0" err="1"/>
              <a:t>Proposed</a:t>
            </a:r>
            <a:r>
              <a:rPr lang="it-IT" dirty="0"/>
              <a:t> Method: Yolov5-PLDPR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45A2265-B8F6-188D-583E-9DE7F6CC2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Key points:</a:t>
            </a:r>
            <a:endParaRPr lang="en-US" dirty="0"/>
          </a:p>
          <a:p>
            <a:r>
              <a:rPr lang="en-US" b="1" dirty="0"/>
              <a:t>Two-Stage Pipeline:</a:t>
            </a:r>
            <a:endParaRPr lang="en-US" dirty="0"/>
          </a:p>
          <a:p>
            <a:pPr lvl="1"/>
            <a:r>
              <a:rPr lang="en-US" b="1" dirty="0"/>
              <a:t>Stage 1:</a:t>
            </a:r>
            <a:r>
              <a:rPr lang="en-US" dirty="0"/>
              <a:t> YOLOv5 detects and localizes license plates in the image.</a:t>
            </a:r>
          </a:p>
          <a:p>
            <a:pPr lvl="1"/>
            <a:r>
              <a:rPr lang="en-US" b="1" dirty="0"/>
              <a:t>Stage 2:</a:t>
            </a:r>
            <a:r>
              <a:rPr lang="en-US" dirty="0"/>
              <a:t> Custom OCR model reads characters from cropped plates.</a:t>
            </a:r>
          </a:p>
          <a:p>
            <a:r>
              <a:rPr lang="en-US" b="1" dirty="0"/>
              <a:t>OCR Model Architecture:</a:t>
            </a:r>
            <a:endParaRPr lang="en-US" dirty="0"/>
          </a:p>
          <a:p>
            <a:pPr lvl="1"/>
            <a:r>
              <a:rPr lang="en-US" b="1" dirty="0"/>
              <a:t>IGFE (Improved Global Feature Extractor):</a:t>
            </a:r>
            <a:endParaRPr lang="en-US" dirty="0"/>
          </a:p>
          <a:p>
            <a:pPr lvl="2"/>
            <a:r>
              <a:rPr lang="en-US" dirty="0"/>
              <a:t>Extracts rich spatial features with a combination of CNN blocks and residual connections.</a:t>
            </a:r>
          </a:p>
          <a:p>
            <a:pPr lvl="2"/>
            <a:r>
              <a:rPr lang="en-US" dirty="0"/>
              <a:t>Uses a custom </a:t>
            </a:r>
            <a:r>
              <a:rPr lang="en-US" dirty="0" err="1"/>
              <a:t>FocusStructure</a:t>
            </a:r>
            <a:r>
              <a:rPr lang="en-US" dirty="0"/>
              <a:t> for efficient feature </a:t>
            </a:r>
            <a:r>
              <a:rPr lang="en-US" dirty="0" err="1"/>
              <a:t>downsampling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Transformer Encoder-Decoder:</a:t>
            </a:r>
            <a:endParaRPr lang="en-US" dirty="0"/>
          </a:p>
          <a:p>
            <a:pPr lvl="2"/>
            <a:r>
              <a:rPr lang="en-US" dirty="0"/>
              <a:t>Encoder applies positional 2D encoding + multi-head self-attention layers to model spatial dependencies.</a:t>
            </a:r>
          </a:p>
          <a:p>
            <a:pPr lvl="2"/>
            <a:r>
              <a:rPr lang="en-US" dirty="0"/>
              <a:t>Decoder uses self-attention and cross-attention with encoder output to predict character sequences.</a:t>
            </a:r>
          </a:p>
          <a:p>
            <a:pPr lvl="2"/>
            <a:r>
              <a:rPr lang="en-US" dirty="0"/>
              <a:t>Adaptive pooling and linear classifier decode features into character probabilities over 68 classes.</a:t>
            </a:r>
          </a:p>
          <a:p>
            <a:r>
              <a:rPr lang="en-US" b="1" dirty="0"/>
              <a:t>Advantages:</a:t>
            </a:r>
            <a:endParaRPr lang="en-US" dirty="0"/>
          </a:p>
          <a:p>
            <a:pPr lvl="1"/>
            <a:r>
              <a:rPr lang="en-US" dirty="0"/>
              <a:t>Transformer architecture captures global context, improving character recognition accuracy.</a:t>
            </a:r>
          </a:p>
          <a:p>
            <a:pPr lvl="1"/>
            <a:r>
              <a:rPr lang="en-US" dirty="0"/>
              <a:t>Modular design separates detection and recognition for flexibility.</a:t>
            </a:r>
          </a:p>
          <a:p>
            <a:pPr lvl="1"/>
            <a:r>
              <a:rPr lang="en-US" dirty="0"/>
              <a:t>State-of-the-art performance reported in the paper.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03956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ttangolo con angoli arrotondati 64">
            <a:extLst>
              <a:ext uri="{FF2B5EF4-FFF2-40B4-BE49-F238E27FC236}">
                <a16:creationId xmlns:a16="http://schemas.microsoft.com/office/drawing/2014/main" id="{E25A634E-2E90-9356-5170-46B7ED822DB1}"/>
              </a:ext>
            </a:extLst>
          </p:cNvPr>
          <p:cNvSpPr/>
          <p:nvPr/>
        </p:nvSpPr>
        <p:spPr>
          <a:xfrm>
            <a:off x="8726251" y="79513"/>
            <a:ext cx="3070140" cy="648031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37" name="Connettore a gomito 36">
            <a:extLst>
              <a:ext uri="{FF2B5EF4-FFF2-40B4-BE49-F238E27FC236}">
                <a16:creationId xmlns:a16="http://schemas.microsoft.com/office/drawing/2014/main" id="{793DFC5B-4108-7123-98E3-D4D15EA5EE3B}"/>
              </a:ext>
            </a:extLst>
          </p:cNvPr>
          <p:cNvCxnSpPr>
            <a:cxnSpLocks/>
            <a:stCxn id="8" idx="3"/>
            <a:endCxn id="14" idx="1"/>
          </p:cNvCxnSpPr>
          <p:nvPr/>
        </p:nvCxnSpPr>
        <p:spPr>
          <a:xfrm flipV="1">
            <a:off x="6149869" y="974034"/>
            <a:ext cx="3329577" cy="2905546"/>
          </a:xfrm>
          <a:prstGeom prst="bentConnector3">
            <a:avLst>
              <a:gd name="adj1" fmla="val 3646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magine 5" descr="Immagine che contiene testo, Targa di veicolo, veicolo, Veicolo terrestre&#10;&#10;Il contenuto generato dall'IA potrebbe non essere corretto.">
            <a:extLst>
              <a:ext uri="{FF2B5EF4-FFF2-40B4-BE49-F238E27FC236}">
                <a16:creationId xmlns:a16="http://schemas.microsoft.com/office/drawing/2014/main" id="{718C0D28-2DC5-2CFB-6665-1B041D764D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454" y="1740229"/>
            <a:ext cx="2418606" cy="3896643"/>
          </a:xfrm>
          <a:prstGeom prst="rect">
            <a:avLst/>
          </a:prstGeom>
        </p:spPr>
      </p:pic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7B55C34A-17F2-FF2A-AA1B-C0D8DFE1BDA9}"/>
              </a:ext>
            </a:extLst>
          </p:cNvPr>
          <p:cNvCxnSpPr>
            <a:cxnSpLocks/>
          </p:cNvCxnSpPr>
          <p:nvPr/>
        </p:nvCxnSpPr>
        <p:spPr>
          <a:xfrm>
            <a:off x="2881060" y="3850886"/>
            <a:ext cx="6691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ttangolo 7">
            <a:extLst>
              <a:ext uri="{FF2B5EF4-FFF2-40B4-BE49-F238E27FC236}">
                <a16:creationId xmlns:a16="http://schemas.microsoft.com/office/drawing/2014/main" id="{FF047ACC-B9A0-6DA6-BEE2-CADAE0EF66E6}"/>
              </a:ext>
            </a:extLst>
          </p:cNvPr>
          <p:cNvSpPr/>
          <p:nvPr/>
        </p:nvSpPr>
        <p:spPr>
          <a:xfrm>
            <a:off x="3565125" y="2764739"/>
            <a:ext cx="2584744" cy="222968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dirty="0"/>
              <a:t>Object </a:t>
            </a:r>
            <a:r>
              <a:rPr lang="it-IT" sz="2400" dirty="0" err="1"/>
              <a:t>detection</a:t>
            </a:r>
            <a:r>
              <a:rPr lang="it-IT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</a:p>
          <a:p>
            <a:pPr algn="ctr"/>
            <a:r>
              <a:rPr lang="it-IT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Yolov5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042EF113-A38C-D0BD-B680-E92E209BB71D}"/>
              </a:ext>
            </a:extLst>
          </p:cNvPr>
          <p:cNvSpPr/>
          <p:nvPr/>
        </p:nvSpPr>
        <p:spPr>
          <a:xfrm>
            <a:off x="9479446" y="496754"/>
            <a:ext cx="1563761" cy="95455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b="1" dirty="0"/>
              <a:t>IGFE</a:t>
            </a:r>
            <a:endParaRPr lang="it-IT" dirty="0"/>
          </a:p>
        </p:txBody>
      </p:sp>
      <p:pic>
        <p:nvPicPr>
          <p:cNvPr id="17" name="Immagine 16" descr="Immagine che contiene testo, segnaletica, Carattere, cartello&#10;&#10;Il contenuto generato dall'IA potrebbe non essere corretto.">
            <a:extLst>
              <a:ext uri="{FF2B5EF4-FFF2-40B4-BE49-F238E27FC236}">
                <a16:creationId xmlns:a16="http://schemas.microsoft.com/office/drawing/2014/main" id="{EDD52D5A-3797-2BE9-DCB0-F92B3CFAF9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190" y="1803705"/>
            <a:ext cx="2033335" cy="619787"/>
          </a:xfrm>
          <a:prstGeom prst="rect">
            <a:avLst/>
          </a:prstGeom>
        </p:spPr>
      </p:pic>
      <p:sp>
        <p:nvSpPr>
          <p:cNvPr id="21" name="Titolo 1">
            <a:extLst>
              <a:ext uri="{FF2B5EF4-FFF2-40B4-BE49-F238E27FC236}">
                <a16:creationId xmlns:a16="http://schemas.microsoft.com/office/drawing/2014/main" id="{FD00B692-C870-163E-E8AA-A63C6B5D0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4" y="352505"/>
            <a:ext cx="4268571" cy="1097280"/>
          </a:xfrm>
        </p:spPr>
        <p:txBody>
          <a:bodyPr>
            <a:normAutofit/>
          </a:bodyPr>
          <a:lstStyle/>
          <a:p>
            <a:r>
              <a:rPr lang="it-IT" dirty="0"/>
              <a:t>Yolov5 + PDLPR</a:t>
            </a:r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03FD725E-F12C-A4DC-E305-DD217E70876D}"/>
              </a:ext>
            </a:extLst>
          </p:cNvPr>
          <p:cNvSpPr/>
          <p:nvPr/>
        </p:nvSpPr>
        <p:spPr>
          <a:xfrm>
            <a:off x="9479441" y="2216950"/>
            <a:ext cx="1563761" cy="95455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b="1" dirty="0"/>
              <a:t>Encoder</a:t>
            </a:r>
            <a:endParaRPr lang="it-IT" dirty="0"/>
          </a:p>
        </p:txBody>
      </p:sp>
      <p:sp>
        <p:nvSpPr>
          <p:cNvPr id="34" name="Rettangolo 33">
            <a:extLst>
              <a:ext uri="{FF2B5EF4-FFF2-40B4-BE49-F238E27FC236}">
                <a16:creationId xmlns:a16="http://schemas.microsoft.com/office/drawing/2014/main" id="{A90A64C3-1FC2-1C02-50A4-6A0ED0E4FC64}"/>
              </a:ext>
            </a:extLst>
          </p:cNvPr>
          <p:cNvSpPr/>
          <p:nvPr/>
        </p:nvSpPr>
        <p:spPr>
          <a:xfrm>
            <a:off x="9479441" y="4019244"/>
            <a:ext cx="1563761" cy="95455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b="1" dirty="0" err="1"/>
              <a:t>Parallel</a:t>
            </a:r>
            <a:r>
              <a:rPr lang="it-IT" b="1" dirty="0"/>
              <a:t> Decoder</a:t>
            </a:r>
            <a:endParaRPr lang="it-IT" dirty="0"/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F019F91C-24CD-9B06-749F-0D3B06348A78}"/>
              </a:ext>
            </a:extLst>
          </p:cNvPr>
          <p:cNvSpPr txBox="1"/>
          <p:nvPr/>
        </p:nvSpPr>
        <p:spPr>
          <a:xfrm>
            <a:off x="9595707" y="5636872"/>
            <a:ext cx="1331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 </a:t>
            </a:r>
            <a:r>
              <a:rPr lang="ja-JP" altLang="it-IT" dirty="0"/>
              <a:t>皖</a:t>
            </a:r>
            <a:r>
              <a:rPr lang="it-IT" dirty="0"/>
              <a:t>AR0011</a:t>
            </a:r>
          </a:p>
        </p:txBody>
      </p:sp>
      <p:cxnSp>
        <p:nvCxnSpPr>
          <p:cNvPr id="40" name="Connettore a gomito 39">
            <a:extLst>
              <a:ext uri="{FF2B5EF4-FFF2-40B4-BE49-F238E27FC236}">
                <a16:creationId xmlns:a16="http://schemas.microsoft.com/office/drawing/2014/main" id="{BE85A48F-87B7-A4CA-B728-AB9135E31875}"/>
              </a:ext>
            </a:extLst>
          </p:cNvPr>
          <p:cNvCxnSpPr>
            <a:cxnSpLocks/>
            <a:stCxn id="34" idx="2"/>
          </p:cNvCxnSpPr>
          <p:nvPr/>
        </p:nvCxnSpPr>
        <p:spPr>
          <a:xfrm rot="16200000" flipH="1">
            <a:off x="9971892" y="5263232"/>
            <a:ext cx="578861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ttore 2 42">
            <a:extLst>
              <a:ext uri="{FF2B5EF4-FFF2-40B4-BE49-F238E27FC236}">
                <a16:creationId xmlns:a16="http://schemas.microsoft.com/office/drawing/2014/main" id="{195393C4-C676-E94A-EDAF-179ECDA4BC87}"/>
              </a:ext>
            </a:extLst>
          </p:cNvPr>
          <p:cNvCxnSpPr>
            <a:stCxn id="14" idx="2"/>
            <a:endCxn id="33" idx="0"/>
          </p:cNvCxnSpPr>
          <p:nvPr/>
        </p:nvCxnSpPr>
        <p:spPr>
          <a:xfrm flipH="1">
            <a:off x="10261322" y="1451313"/>
            <a:ext cx="5" cy="765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ttore 2 45">
            <a:extLst>
              <a:ext uri="{FF2B5EF4-FFF2-40B4-BE49-F238E27FC236}">
                <a16:creationId xmlns:a16="http://schemas.microsoft.com/office/drawing/2014/main" id="{56D9FFC2-6B3E-B949-7238-E9CDC13F24D9}"/>
              </a:ext>
            </a:extLst>
          </p:cNvPr>
          <p:cNvCxnSpPr>
            <a:stCxn id="33" idx="2"/>
            <a:endCxn id="34" idx="0"/>
          </p:cNvCxnSpPr>
          <p:nvPr/>
        </p:nvCxnSpPr>
        <p:spPr>
          <a:xfrm>
            <a:off x="10261322" y="3171509"/>
            <a:ext cx="0" cy="8477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18B75555-802D-4F2B-7610-099CFDA6FAC8}"/>
              </a:ext>
            </a:extLst>
          </p:cNvPr>
          <p:cNvSpPr txBox="1"/>
          <p:nvPr/>
        </p:nvSpPr>
        <p:spPr>
          <a:xfrm>
            <a:off x="10440149" y="1634193"/>
            <a:ext cx="128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512 x 6 x 18</a:t>
            </a:r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44D377E1-8E49-4153-2940-05DCF9E3D487}"/>
              </a:ext>
            </a:extLst>
          </p:cNvPr>
          <p:cNvSpPr txBox="1"/>
          <p:nvPr/>
        </p:nvSpPr>
        <p:spPr>
          <a:xfrm>
            <a:off x="6683665" y="2423492"/>
            <a:ext cx="128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48 x 144 x 3</a:t>
            </a:r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222A0C0A-23D5-FB86-3C9C-EB11E1D4CFDE}"/>
              </a:ext>
            </a:extLst>
          </p:cNvPr>
          <p:cNvSpPr txBox="1"/>
          <p:nvPr/>
        </p:nvSpPr>
        <p:spPr>
          <a:xfrm>
            <a:off x="10440149" y="3436486"/>
            <a:ext cx="128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512 x 6 x 18</a:t>
            </a:r>
          </a:p>
        </p:txBody>
      </p:sp>
      <p:sp>
        <p:nvSpPr>
          <p:cNvPr id="66" name="CasellaDiTesto 65">
            <a:extLst>
              <a:ext uri="{FF2B5EF4-FFF2-40B4-BE49-F238E27FC236}">
                <a16:creationId xmlns:a16="http://schemas.microsoft.com/office/drawing/2014/main" id="{7A3B7F14-F6D3-34D1-05B1-80263E8F540D}"/>
              </a:ext>
            </a:extLst>
          </p:cNvPr>
          <p:cNvSpPr txBox="1"/>
          <p:nvPr/>
        </p:nvSpPr>
        <p:spPr>
          <a:xfrm>
            <a:off x="7713543" y="5775371"/>
            <a:ext cx="1192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solidFill>
                  <a:srgbClr val="ED7D31"/>
                </a:solidFill>
              </a:rPr>
              <a:t>PDLPR</a:t>
            </a:r>
          </a:p>
        </p:txBody>
      </p:sp>
    </p:spTree>
    <p:extLst>
      <p:ext uri="{BB962C8B-B14F-4D97-AF65-F5344CB8AC3E}">
        <p14:creationId xmlns:p14="http://schemas.microsoft.com/office/powerpoint/2010/main" val="2723829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557285F-AB87-C6D2-382F-0C344477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9230"/>
            <a:ext cx="8637104" cy="1325563"/>
          </a:xfrm>
        </p:spPr>
        <p:txBody>
          <a:bodyPr/>
          <a:lstStyle/>
          <a:p>
            <a:r>
              <a:rPr lang="it-IT" dirty="0"/>
              <a:t>CCPD (</a:t>
            </a:r>
            <a:r>
              <a:rPr lang="it-IT" dirty="0" err="1"/>
              <a:t>Chinese</a:t>
            </a:r>
            <a:r>
              <a:rPr lang="it-IT" dirty="0"/>
              <a:t> City Parking Dataset)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CAB663A-4EE7-99A0-E867-88DD84977F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1023" y="1210452"/>
            <a:ext cx="10515600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large-scale,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publicly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available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dataset for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license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plate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detection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recognition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Contains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over </a:t>
            </a:r>
            <a:r>
              <a:rPr kumimoji="0" lang="it-IT" altLang="it-IT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250,000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images of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vehicles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annotated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license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plates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it-IT" altLang="it-I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it-IT" altLang="it-IT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</a:t>
            </a:r>
            <a:r>
              <a:rPr kumimoji="0" lang="it-IT" altLang="it-IT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Characteristics</a:t>
            </a:r>
            <a:r>
              <a:rPr kumimoji="0" lang="it-IT" altLang="it-IT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it-IT" altLang="it-I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Diverse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conditions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various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lighting,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weather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viewpoints.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Plates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captured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-world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scenarios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including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occlusion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blur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distortion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Annotations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include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bounding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boxes for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plates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character-level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labels.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Elemento grafico 4" descr="Cartella con riempimento a tinta unita">
            <a:extLst>
              <a:ext uri="{FF2B5EF4-FFF2-40B4-BE49-F238E27FC236}">
                <a16:creationId xmlns:a16="http://schemas.microsoft.com/office/drawing/2014/main" id="{E8B76D4E-ACAE-87BE-427F-3866459C01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08304" y="4342509"/>
            <a:ext cx="1919390" cy="1919390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AFF6FBE-52BE-37D9-3EC7-EF32CC22B7C5}"/>
              </a:ext>
            </a:extLst>
          </p:cNvPr>
          <p:cNvSpPr txBox="1"/>
          <p:nvPr/>
        </p:nvSpPr>
        <p:spPr>
          <a:xfrm>
            <a:off x="1897163" y="5173194"/>
            <a:ext cx="741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base</a:t>
            </a:r>
          </a:p>
        </p:txBody>
      </p:sp>
      <p:sp>
        <p:nvSpPr>
          <p:cNvPr id="13" name="Segno di addizione 12">
            <a:extLst>
              <a:ext uri="{FF2B5EF4-FFF2-40B4-BE49-F238E27FC236}">
                <a16:creationId xmlns:a16="http://schemas.microsoft.com/office/drawing/2014/main" id="{EB73C83C-D983-375C-18E4-3047397FD9FD}"/>
              </a:ext>
            </a:extLst>
          </p:cNvPr>
          <p:cNvSpPr/>
          <p:nvPr/>
        </p:nvSpPr>
        <p:spPr>
          <a:xfrm>
            <a:off x="3406166" y="5120683"/>
            <a:ext cx="502721" cy="474354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863DE9F8-6761-ACB5-5EC3-4F68A5A72593}"/>
              </a:ext>
            </a:extLst>
          </p:cNvPr>
          <p:cNvSpPr txBox="1"/>
          <p:nvPr/>
        </p:nvSpPr>
        <p:spPr>
          <a:xfrm>
            <a:off x="9980243" y="3873191"/>
            <a:ext cx="687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test</a:t>
            </a:r>
          </a:p>
        </p:txBody>
      </p:sp>
      <p:pic>
        <p:nvPicPr>
          <p:cNvPr id="15" name="Elemento grafico 14" descr="Cartella con riempimento a tinta unita">
            <a:extLst>
              <a:ext uri="{FF2B5EF4-FFF2-40B4-BE49-F238E27FC236}">
                <a16:creationId xmlns:a16="http://schemas.microsoft.com/office/drawing/2014/main" id="{DAAE7041-9CCD-B50E-A215-0AE92C8311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76610" y="3355357"/>
            <a:ext cx="1919390" cy="1919390"/>
          </a:xfrm>
          <a:prstGeom prst="rect">
            <a:avLst/>
          </a:prstGeom>
        </p:spPr>
      </p:pic>
      <p:pic>
        <p:nvPicPr>
          <p:cNvPr id="16" name="Elemento grafico 15" descr="Cartella con riempimento a tinta unita">
            <a:extLst>
              <a:ext uri="{FF2B5EF4-FFF2-40B4-BE49-F238E27FC236}">
                <a16:creationId xmlns:a16="http://schemas.microsoft.com/office/drawing/2014/main" id="{86322839-06B8-67FD-1C0A-0448303F62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82579" y="3382814"/>
            <a:ext cx="1919390" cy="1919390"/>
          </a:xfrm>
          <a:prstGeom prst="rect">
            <a:avLst/>
          </a:prstGeom>
        </p:spPr>
      </p:pic>
      <p:pic>
        <p:nvPicPr>
          <p:cNvPr id="17" name="Elemento grafico 16" descr="Cartella con riempimento a tinta unita">
            <a:extLst>
              <a:ext uri="{FF2B5EF4-FFF2-40B4-BE49-F238E27FC236}">
                <a16:creationId xmlns:a16="http://schemas.microsoft.com/office/drawing/2014/main" id="{E605EC3E-9B66-D975-C5B9-DF5D66A5C0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34906" y="3410271"/>
            <a:ext cx="1919390" cy="1919390"/>
          </a:xfrm>
          <a:prstGeom prst="rect">
            <a:avLst/>
          </a:prstGeom>
        </p:spPr>
      </p:pic>
      <p:pic>
        <p:nvPicPr>
          <p:cNvPr id="18" name="Elemento grafico 17" descr="Cartella con riempimento a tinta unita">
            <a:extLst>
              <a:ext uri="{FF2B5EF4-FFF2-40B4-BE49-F238E27FC236}">
                <a16:creationId xmlns:a16="http://schemas.microsoft.com/office/drawing/2014/main" id="{ABC07FDB-B9C9-AC9A-275F-EE58E46797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68466" y="4705442"/>
            <a:ext cx="1919390" cy="1919390"/>
          </a:xfrm>
          <a:prstGeom prst="rect">
            <a:avLst/>
          </a:prstGeom>
        </p:spPr>
      </p:pic>
      <p:pic>
        <p:nvPicPr>
          <p:cNvPr id="19" name="Elemento grafico 18" descr="Cartella con riempimento a tinta unita">
            <a:extLst>
              <a:ext uri="{FF2B5EF4-FFF2-40B4-BE49-F238E27FC236}">
                <a16:creationId xmlns:a16="http://schemas.microsoft.com/office/drawing/2014/main" id="{8ADD6427-CBCC-E991-3793-882D64D35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05758" y="4705442"/>
            <a:ext cx="1919390" cy="1919390"/>
          </a:xfrm>
          <a:prstGeom prst="rect">
            <a:avLst/>
          </a:prstGeom>
        </p:spPr>
      </p:pic>
      <p:pic>
        <p:nvPicPr>
          <p:cNvPr id="20" name="Elemento grafico 19" descr="Cartella con riempimento a tinta unita">
            <a:extLst>
              <a:ext uri="{FF2B5EF4-FFF2-40B4-BE49-F238E27FC236}">
                <a16:creationId xmlns:a16="http://schemas.microsoft.com/office/drawing/2014/main" id="{6F8081B1-FA0A-AA0E-5FE9-B552E86F42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3050" y="4705442"/>
            <a:ext cx="1919390" cy="1919390"/>
          </a:xfrm>
          <a:prstGeom prst="rect">
            <a:avLst/>
          </a:prstGeom>
        </p:spPr>
      </p:pic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1DA5112E-DE50-1550-9E49-930841C53FAC}"/>
              </a:ext>
            </a:extLst>
          </p:cNvPr>
          <p:cNvSpPr txBox="1"/>
          <p:nvPr/>
        </p:nvSpPr>
        <p:spPr>
          <a:xfrm>
            <a:off x="4765469" y="4157843"/>
            <a:ext cx="741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tilt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7B247F18-63E0-F06B-FD30-F01777DA15CA}"/>
              </a:ext>
            </a:extLst>
          </p:cNvPr>
          <p:cNvSpPr txBox="1"/>
          <p:nvPr/>
        </p:nvSpPr>
        <p:spPr>
          <a:xfrm>
            <a:off x="4775790" y="5513704"/>
            <a:ext cx="741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blur</a:t>
            </a:r>
            <a:endParaRPr lang="it-IT" dirty="0"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01B6177B-C4B4-83A8-DFC3-0BDA8EB3D5D4}"/>
              </a:ext>
            </a:extLst>
          </p:cNvPr>
          <p:cNvSpPr txBox="1"/>
          <p:nvPr/>
        </p:nvSpPr>
        <p:spPr>
          <a:xfrm>
            <a:off x="6471438" y="4185300"/>
            <a:ext cx="741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db</a:t>
            </a:r>
            <a:endParaRPr lang="it-IT" dirty="0"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5A2031D3-2972-0F16-F5D7-4076870AE78E}"/>
              </a:ext>
            </a:extLst>
          </p:cNvPr>
          <p:cNvSpPr txBox="1"/>
          <p:nvPr/>
        </p:nvSpPr>
        <p:spPr>
          <a:xfrm>
            <a:off x="8088127" y="4178774"/>
            <a:ext cx="1003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rotate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F2EC1D17-58EF-58E5-F9A8-C23B2087E0DC}"/>
              </a:ext>
            </a:extLst>
          </p:cNvPr>
          <p:cNvSpPr txBox="1"/>
          <p:nvPr/>
        </p:nvSpPr>
        <p:spPr>
          <a:xfrm>
            <a:off x="6490545" y="5513704"/>
            <a:ext cx="741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fn</a:t>
            </a:r>
            <a:endParaRPr lang="it-IT" dirty="0"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7EF1A7B7-E8EC-6454-2878-3AE9ACE6C8D6}"/>
              </a:ext>
            </a:extLst>
          </p:cNvPr>
          <p:cNvSpPr txBox="1"/>
          <p:nvPr/>
        </p:nvSpPr>
        <p:spPr>
          <a:xfrm>
            <a:off x="7870669" y="5513704"/>
            <a:ext cx="1464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challenge</a:t>
            </a:r>
          </a:p>
        </p:txBody>
      </p:sp>
      <p:pic>
        <p:nvPicPr>
          <p:cNvPr id="28" name="Elemento grafico 27" descr="Cartella con riempimento a tinta unita">
            <a:extLst>
              <a:ext uri="{FF2B5EF4-FFF2-40B4-BE49-F238E27FC236}">
                <a16:creationId xmlns:a16="http://schemas.microsoft.com/office/drawing/2014/main" id="{3F659A41-B8E5-8635-0D6C-08C9BADD06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64054" y="4057857"/>
            <a:ext cx="1919390" cy="1919390"/>
          </a:xfrm>
          <a:prstGeom prst="rect">
            <a:avLst/>
          </a:prstGeom>
        </p:spPr>
      </p:pic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11DFF085-3DDD-11E7-20C7-82A6BACF6CC5}"/>
              </a:ext>
            </a:extLst>
          </p:cNvPr>
          <p:cNvSpPr txBox="1"/>
          <p:nvPr/>
        </p:nvSpPr>
        <p:spPr>
          <a:xfrm>
            <a:off x="9728373" y="4832886"/>
            <a:ext cx="1155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weather</a:t>
            </a:r>
            <a:endParaRPr lang="it-IT" dirty="0"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7C677957-36F8-F945-C260-A7F2444A73EF}"/>
              </a:ext>
            </a:extLst>
          </p:cNvPr>
          <p:cNvSpPr txBox="1"/>
          <p:nvPr/>
        </p:nvSpPr>
        <p:spPr>
          <a:xfrm>
            <a:off x="1927514" y="4157843"/>
            <a:ext cx="687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train</a:t>
            </a: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2605056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C754A36-DF85-F96E-76A2-762DA3FFD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Evaluation </a:t>
            </a:r>
            <a:r>
              <a:rPr lang="it-IT" dirty="0" err="1"/>
              <a:t>metrics</a:t>
            </a:r>
            <a:r>
              <a:rPr lang="it-IT" dirty="0"/>
              <a:t> (?)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DCA3DE7-4295-C0D2-6218-C774EF174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6209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9B249F-9E5D-CE1B-E509-2B705897D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Baseline </a:t>
            </a:r>
            <a:r>
              <a:rPr lang="it-IT" dirty="0" err="1"/>
              <a:t>results</a:t>
            </a:r>
            <a:endParaRPr lang="it-IT" dirty="0"/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5CEC9810-FEF0-2E57-2FFB-F3F2AD59AA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908230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314449">
                  <a:extLst>
                    <a:ext uri="{9D8B030D-6E8A-4147-A177-3AD203B41FA5}">
                      <a16:colId xmlns:a16="http://schemas.microsoft.com/office/drawing/2014/main" val="3826079438"/>
                    </a:ext>
                  </a:extLst>
                </a:gridCol>
                <a:gridCol w="1314449">
                  <a:extLst>
                    <a:ext uri="{9D8B030D-6E8A-4147-A177-3AD203B41FA5}">
                      <a16:colId xmlns:a16="http://schemas.microsoft.com/office/drawing/2014/main" val="3607718456"/>
                    </a:ext>
                  </a:extLst>
                </a:gridCol>
                <a:gridCol w="1314449">
                  <a:extLst>
                    <a:ext uri="{9D8B030D-6E8A-4147-A177-3AD203B41FA5}">
                      <a16:colId xmlns:a16="http://schemas.microsoft.com/office/drawing/2014/main" val="2879001292"/>
                    </a:ext>
                  </a:extLst>
                </a:gridCol>
                <a:gridCol w="1314449">
                  <a:extLst>
                    <a:ext uri="{9D8B030D-6E8A-4147-A177-3AD203B41FA5}">
                      <a16:colId xmlns:a16="http://schemas.microsoft.com/office/drawing/2014/main" val="1366314030"/>
                    </a:ext>
                  </a:extLst>
                </a:gridCol>
                <a:gridCol w="1314449">
                  <a:extLst>
                    <a:ext uri="{9D8B030D-6E8A-4147-A177-3AD203B41FA5}">
                      <a16:colId xmlns:a16="http://schemas.microsoft.com/office/drawing/2014/main" val="3745959777"/>
                    </a:ext>
                  </a:extLst>
                </a:gridCol>
                <a:gridCol w="1314449">
                  <a:extLst>
                    <a:ext uri="{9D8B030D-6E8A-4147-A177-3AD203B41FA5}">
                      <a16:colId xmlns:a16="http://schemas.microsoft.com/office/drawing/2014/main" val="88174228"/>
                    </a:ext>
                  </a:extLst>
                </a:gridCol>
                <a:gridCol w="1314449">
                  <a:extLst>
                    <a:ext uri="{9D8B030D-6E8A-4147-A177-3AD203B41FA5}">
                      <a16:colId xmlns:a16="http://schemas.microsoft.com/office/drawing/2014/main" val="3272165040"/>
                    </a:ext>
                  </a:extLst>
                </a:gridCol>
                <a:gridCol w="1314449">
                  <a:extLst>
                    <a:ext uri="{9D8B030D-6E8A-4147-A177-3AD203B41FA5}">
                      <a16:colId xmlns:a16="http://schemas.microsoft.com/office/drawing/2014/main" val="23785101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it-IT"/>
                    </a:p>
                  </a:txBody>
                  <a:tcPr marL="88281" marR="88281"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 marL="88281" marR="88281"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 marL="88281" marR="88281"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 marL="88281" marR="88281"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 marL="88281" marR="88281"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 marL="88281" marR="88281"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 marL="88281" marR="88281"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 marL="88281" marR="88281"/>
                </a:tc>
                <a:extLst>
                  <a:ext uri="{0D108BD9-81ED-4DB2-BD59-A6C34878D82A}">
                    <a16:rowId xmlns:a16="http://schemas.microsoft.com/office/drawing/2014/main" val="2739413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it-IT"/>
                    </a:p>
                  </a:txBody>
                  <a:tcPr marL="88281" marR="88281"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 marL="88281" marR="88281"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 marL="88281" marR="88281"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 marL="88281" marR="88281"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 marL="88281" marR="88281"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 marL="88281" marR="88281"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 marL="88281" marR="88281"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 marL="88281" marR="88281"/>
                </a:tc>
                <a:extLst>
                  <a:ext uri="{0D108BD9-81ED-4DB2-BD59-A6C34878D82A}">
                    <a16:rowId xmlns:a16="http://schemas.microsoft.com/office/drawing/2014/main" val="2805054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it-IT"/>
                    </a:p>
                  </a:txBody>
                  <a:tcPr marL="88281" marR="88281"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 marL="88281" marR="88281"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 marL="88281" marR="88281"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 marL="88281" marR="88281"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 marL="88281" marR="88281"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 marL="88281" marR="88281"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 marL="88281" marR="88281"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 marL="88281" marR="88281"/>
                </a:tc>
                <a:extLst>
                  <a:ext uri="{0D108BD9-81ED-4DB2-BD59-A6C34878D82A}">
                    <a16:rowId xmlns:a16="http://schemas.microsoft.com/office/drawing/2014/main" val="2514358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it-IT"/>
                    </a:p>
                  </a:txBody>
                  <a:tcPr marL="88281" marR="88281"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 marL="88281" marR="88281"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 marL="88281" marR="88281"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 marL="88281" marR="88281"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 marL="88281" marR="88281"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 marL="88281" marR="88281"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 marL="88281" marR="88281"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 marL="88281" marR="88281"/>
                </a:tc>
                <a:extLst>
                  <a:ext uri="{0D108BD9-81ED-4DB2-BD59-A6C34878D82A}">
                    <a16:rowId xmlns:a16="http://schemas.microsoft.com/office/drawing/2014/main" val="457417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it-IT"/>
                    </a:p>
                  </a:txBody>
                  <a:tcPr marL="88281" marR="88281"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 marL="88281" marR="88281"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 marL="88281" marR="88281"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 marL="88281" marR="88281"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 marL="88281" marR="88281"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 marL="88281" marR="88281"/>
                </a:tc>
                <a:tc>
                  <a:txBody>
                    <a:bodyPr/>
                    <a:lstStyle/>
                    <a:p>
                      <a:endParaRPr lang="it-IT"/>
                    </a:p>
                  </a:txBody>
                  <a:tcPr marL="88281" marR="88281"/>
                </a:tc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 marL="88281" marR="88281"/>
                </a:tc>
                <a:extLst>
                  <a:ext uri="{0D108BD9-81ED-4DB2-BD59-A6C34878D82A}">
                    <a16:rowId xmlns:a16="http://schemas.microsoft.com/office/drawing/2014/main" val="1510141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21472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69A950-2610-555F-CFBE-B7C7B998F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Immaginette sui risultati della baseline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739205-036A-CBB0-4A9F-24C3273C5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385114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B0E1CE-6F82-55B3-1E91-802F2D528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Pldpdlpld</a:t>
            </a:r>
            <a:r>
              <a:rPr lang="it-IT" dirty="0"/>
              <a:t> </a:t>
            </a:r>
            <a:r>
              <a:rPr lang="it-IT" dirty="0" err="1"/>
              <a:t>results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F873603-D151-F2BA-25A7-3FE55287C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9611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EA3777-3C02-CEC5-06BC-DCF3CCAC6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Results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D3824AB-206A-EABF-3DC9-6B3673F57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25195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FAD8A9C-F1B5-BDEE-081E-01005561D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Comparison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EB194E3-BC19-9479-B9A6-3E120281E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Chi fa meglio?</a:t>
            </a:r>
          </a:p>
        </p:txBody>
      </p:sp>
    </p:spTree>
    <p:extLst>
      <p:ext uri="{BB962C8B-B14F-4D97-AF65-F5344CB8AC3E}">
        <p14:creationId xmlns:p14="http://schemas.microsoft.com/office/powerpoint/2010/main" val="13916159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B0287E1-23AB-008F-B8EE-5999358A7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Conclusions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3C0A65-E612-05C2-7D56-9BBEE36D9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2735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Tema 2022">
  <a:themeElements>
    <a:clrScheme name="Office 2013 - Tema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254</TotalTime>
  <Words>654</Words>
  <Application>Microsoft Office PowerPoint</Application>
  <PresentationFormat>Widescreen</PresentationFormat>
  <Paragraphs>100</Paragraphs>
  <Slides>17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17</vt:i4>
      </vt:variant>
    </vt:vector>
  </HeadingPairs>
  <TitlesOfParts>
    <vt:vector size="23" baseType="lpstr">
      <vt:lpstr>Arial</vt:lpstr>
      <vt:lpstr>Arial Nova Light</vt:lpstr>
      <vt:lpstr>Calibri</vt:lpstr>
      <vt:lpstr>Calibri Light</vt:lpstr>
      <vt:lpstr>Cascadia Code Light</vt:lpstr>
      <vt:lpstr>Office 2013 - Tema 2022</vt:lpstr>
      <vt:lpstr>Car Plate Recognition and Reconstruction with Deep Learning</vt:lpstr>
      <vt:lpstr>Presentazione standard di PowerPoint</vt:lpstr>
      <vt:lpstr>Outline</vt:lpstr>
      <vt:lpstr>Introduction</vt:lpstr>
      <vt:lpstr>Related works</vt:lpstr>
      <vt:lpstr>Proposed Method: Unified ResNet18</vt:lpstr>
      <vt:lpstr>Unified ResNet18</vt:lpstr>
      <vt:lpstr>Paper Proposed Method: Yolov5-PLDPR</vt:lpstr>
      <vt:lpstr>Yolov5 + PDLPR</vt:lpstr>
      <vt:lpstr>CCPD (Chinese City Parking Dataset)</vt:lpstr>
      <vt:lpstr>Evaluation metrics (?)</vt:lpstr>
      <vt:lpstr>Baseline results</vt:lpstr>
      <vt:lpstr>Immaginette sui risultati della baseline</vt:lpstr>
      <vt:lpstr>Pldpdlpld results</vt:lpstr>
      <vt:lpstr>Results</vt:lpstr>
      <vt:lpstr>Comparison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Federica Sardo</dc:creator>
  <cp:lastModifiedBy>Federica Sardo</cp:lastModifiedBy>
  <cp:revision>6</cp:revision>
  <dcterms:created xsi:type="dcterms:W3CDTF">2025-07-20T14:56:56Z</dcterms:created>
  <dcterms:modified xsi:type="dcterms:W3CDTF">2025-07-21T12:58:29Z</dcterms:modified>
</cp:coreProperties>
</file>