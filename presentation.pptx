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85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94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343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814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02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922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115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483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27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512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763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670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375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A4A45B-55C8-5799-46C8-47C2439109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5489118" cy="3524250"/>
          </a:xfrm>
        </p:spPr>
        <p:txBody>
          <a:bodyPr>
            <a:normAutofit fontScale="90000"/>
          </a:bodyPr>
          <a:lstStyle/>
          <a:p>
            <a:r>
              <a:rPr lang="en-US" dirty="0"/>
              <a:t>Car Plate Recognition and</a:t>
            </a:r>
            <a:br>
              <a:rPr lang="en-US" dirty="0"/>
            </a:br>
            <a:r>
              <a:rPr lang="en-US" dirty="0"/>
              <a:t>Reconstruction with Deep Learning</a:t>
            </a:r>
            <a:endParaRPr lang="it-IT" sz="5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Sfondo tecnologia di rete">
            <a:extLst>
              <a:ext uri="{FF2B5EF4-FFF2-40B4-BE49-F238E27FC236}">
                <a16:creationId xmlns:a16="http://schemas.microsoft.com/office/drawing/2014/main" id="{B3A1B076-9E9B-EB1C-C0DE-BA3FFDE024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729" r="3408" b="-1"/>
          <a:stretch>
            <a:fillRect/>
          </a:stretch>
        </p:blipFill>
        <p:spPr>
          <a:xfrm>
            <a:off x="6433930" y="10"/>
            <a:ext cx="5758069" cy="6857990"/>
          </a:xfrm>
          <a:prstGeom prst="rect">
            <a:avLst/>
          </a:prstGeom>
        </p:spPr>
      </p:pic>
      <p:sp>
        <p:nvSpPr>
          <p:cNvPr id="8" name="Sottotitolo 7">
            <a:extLst>
              <a:ext uri="{FF2B5EF4-FFF2-40B4-BE49-F238E27FC236}">
                <a16:creationId xmlns:a16="http://schemas.microsoft.com/office/drawing/2014/main" id="{65B04A67-AAF5-3BBA-8F7F-AE078195E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7" y="5023431"/>
            <a:ext cx="5833674" cy="1287887"/>
          </a:xfrm>
        </p:spPr>
        <p:txBody>
          <a:bodyPr>
            <a:normAutofit fontScale="92500" lnSpcReduction="10000"/>
          </a:bodyPr>
          <a:lstStyle/>
          <a:p>
            <a:r>
              <a:rPr lang="it-IT" cap="none" spc="0" dirty="0">
                <a:latin typeface="Arial Nova Light" panose="020B0304020202020204" pitchFamily="34" charset="0"/>
              </a:rPr>
              <a:t>Computer Vision – A.A. 2024-2025</a:t>
            </a:r>
          </a:p>
          <a:p>
            <a:r>
              <a:rPr lang="it-IT" b="0" cap="none" spc="0" dirty="0">
                <a:latin typeface="Arial Nova Light" panose="020B0304020202020204" pitchFamily="34" charset="0"/>
              </a:rPr>
              <a:t>Flavio Corsetti – 1997818</a:t>
            </a:r>
          </a:p>
          <a:p>
            <a:r>
              <a:rPr lang="it-IT" b="0" cap="none" spc="0" dirty="0">
                <a:latin typeface="Arial Nova Light" panose="020B0304020202020204" pitchFamily="34" charset="0"/>
              </a:rPr>
              <a:t>Federica Sardo - 1760539</a:t>
            </a:r>
          </a:p>
        </p:txBody>
      </p:sp>
    </p:spTree>
    <p:extLst>
      <p:ext uri="{BB962C8B-B14F-4D97-AF65-F5344CB8AC3E}">
        <p14:creationId xmlns:p14="http://schemas.microsoft.com/office/powerpoint/2010/main" val="2716635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CF8DB3-717B-847D-E1F0-52CF679E3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9A602A-B76B-8342-3E2B-D1F0FAE34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● Title: Report the project name, your names, and course information</a:t>
            </a:r>
          </a:p>
          <a:p>
            <a:r>
              <a:rPr lang="en-US" dirty="0"/>
              <a:t>● Outline: Briefly describe the presentation workflow</a:t>
            </a:r>
          </a:p>
          <a:p>
            <a:r>
              <a:rPr lang="en-US" dirty="0"/>
              <a:t>● Problem Statement: The challenge you are addressing</a:t>
            </a:r>
          </a:p>
          <a:p>
            <a:r>
              <a:rPr lang="en-US" dirty="0"/>
              <a:t>● State of the Art: How current research approaches this challenge</a:t>
            </a:r>
          </a:p>
          <a:p>
            <a:r>
              <a:rPr lang="en-US" dirty="0"/>
              <a:t>● Proposed Method: How you approached this challenge</a:t>
            </a:r>
          </a:p>
          <a:p>
            <a:r>
              <a:rPr lang="en-US" dirty="0"/>
              <a:t>● Dataset: The data you used for the project</a:t>
            </a:r>
          </a:p>
          <a:p>
            <a:r>
              <a:rPr lang="en-US" dirty="0"/>
              <a:t>● Experimental Setup: How you configured the elements of the project</a:t>
            </a:r>
          </a:p>
          <a:p>
            <a:r>
              <a:rPr lang="en-US" dirty="0"/>
              <a:t>● Model Evaluation: How you assessed the performance of your model</a:t>
            </a:r>
          </a:p>
          <a:p>
            <a:r>
              <a:rPr lang="en-US" dirty="0"/>
              <a:t>● Conclusions: Final considerations and future work</a:t>
            </a:r>
          </a:p>
          <a:p>
            <a:r>
              <a:rPr lang="en-US" dirty="0"/>
              <a:t>● References: Where you drew inspiration from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70014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77200-C473-2FFD-3944-8B3DE9BA3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F3AB6B-3794-87CB-227B-ABBB48A07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7458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513E0-ED19-BBD1-3931-5FB610CA6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5C646E6-4453-3C55-5208-49CAEF9B40C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 license plate recognition (ALPR) is a critical task in intelligent transportation systems, traffic monitoring, and security.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Detecting license plates accurately in real-world conditions is challenging due to: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Varying lighting and weather conditions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 plate sizes, colors, fonts, and formats across regions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Occlusions, motion blur, and low image quality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Precise plate detection is the first crucial step before character recognition can be performed.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Traditional computer vision methods struggle with real-time accuracy and robustness.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techniques, especially object detectors like YOLO, have significantly improved detection accuracy and speed.</a:t>
            </a:r>
          </a:p>
        </p:txBody>
      </p:sp>
    </p:spTree>
    <p:extLst>
      <p:ext uri="{BB962C8B-B14F-4D97-AF65-F5344CB8AC3E}">
        <p14:creationId xmlns:p14="http://schemas.microsoft.com/office/powerpoint/2010/main" val="2635113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B68438-364F-49F4-F718-0E0DE54CF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Related</a:t>
            </a:r>
            <a:r>
              <a:rPr lang="it-IT" dirty="0"/>
              <a:t> 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C3CD5-B3F6-3726-0117-5FBC35221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07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5EBB79-92C2-2D89-6ECB-6713ECEF4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Proposed</a:t>
            </a:r>
            <a:r>
              <a:rPr lang="it-IT" dirty="0"/>
              <a:t> Method: </a:t>
            </a:r>
            <a:r>
              <a:rPr lang="it-IT" dirty="0" err="1"/>
              <a:t>Unified</a:t>
            </a:r>
            <a:r>
              <a:rPr lang="it-IT" dirty="0"/>
              <a:t> ResNet18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8BF74-0813-84BB-C78F-9BD0D6B48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Key points:</a:t>
            </a:r>
            <a:endParaRPr lang="en-US" dirty="0"/>
          </a:p>
          <a:p>
            <a:r>
              <a:rPr lang="en-US" b="1" dirty="0"/>
              <a:t>Unified Model Architecture:</a:t>
            </a:r>
            <a:br>
              <a:rPr lang="en-US" dirty="0"/>
            </a:br>
            <a:r>
              <a:rPr lang="en-US" dirty="0"/>
              <a:t>A single ResNet18-based backbone with two possible heads:</a:t>
            </a:r>
          </a:p>
          <a:p>
            <a:pPr lvl="1"/>
            <a:r>
              <a:rPr lang="en-US" b="1" dirty="0"/>
              <a:t>Bounding Box Head:</a:t>
            </a:r>
            <a:r>
              <a:rPr lang="en-US" dirty="0"/>
              <a:t> predicts plate location as 4 normalized coordinates.</a:t>
            </a:r>
          </a:p>
          <a:p>
            <a:pPr lvl="1"/>
            <a:r>
              <a:rPr lang="en-US" b="1" dirty="0"/>
              <a:t>OCR Head:</a:t>
            </a:r>
            <a:r>
              <a:rPr lang="en-US" dirty="0"/>
              <a:t> predicts characters on the plate via multi-head classification (7 characters, 68 possible classes).</a:t>
            </a:r>
          </a:p>
          <a:p>
            <a:r>
              <a:rPr lang="en-US" b="1" dirty="0"/>
              <a:t>Design Highlights:</a:t>
            </a:r>
            <a:endParaRPr lang="en-US" dirty="0"/>
          </a:p>
          <a:p>
            <a:pPr lvl="1"/>
            <a:r>
              <a:rPr lang="en-US" dirty="0"/>
              <a:t>Shared feature extractor (ResNet18) reduces computation and training time.</a:t>
            </a:r>
          </a:p>
          <a:p>
            <a:pPr lvl="1"/>
            <a:r>
              <a:rPr lang="en-US" dirty="0"/>
              <a:t>Separate heads specialized for their tasks improve accuracy and flexibility.</a:t>
            </a:r>
          </a:p>
          <a:p>
            <a:pPr lvl="1"/>
            <a:r>
              <a:rPr lang="en-US" dirty="0"/>
              <a:t>Dropout and batch normalization used to improve generalization.</a:t>
            </a:r>
          </a:p>
          <a:p>
            <a:r>
              <a:rPr lang="en-US" b="1" dirty="0"/>
              <a:t>Advantages:</a:t>
            </a:r>
            <a:endParaRPr lang="en-US" dirty="0"/>
          </a:p>
          <a:p>
            <a:pPr lvl="1"/>
            <a:r>
              <a:rPr lang="en-US" dirty="0"/>
              <a:t>Simplifies pipeline by combining plate detection and recognition into one architecture.</a:t>
            </a:r>
          </a:p>
          <a:p>
            <a:pPr lvl="1"/>
            <a:r>
              <a:rPr lang="en-US" dirty="0"/>
              <a:t>Easily saved and loaded in parts for modular training and inference.</a:t>
            </a:r>
          </a:p>
          <a:p>
            <a:pPr lvl="1"/>
            <a:r>
              <a:rPr lang="en-US" dirty="0"/>
              <a:t>Works effectively on diverse plates by learning both spatial and character features.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00752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4732CD-FFB0-1CB4-DB56-5367F3584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Immaginette per spiegare come funziona il nostro algoritmo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87E97B-DB02-B85C-BD92-7EED3A5E5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382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C2B9D8-6CE4-F11A-812B-288DEEA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Paper </a:t>
            </a:r>
            <a:r>
              <a:rPr lang="it-IT" dirty="0" err="1"/>
              <a:t>Proposed</a:t>
            </a:r>
            <a:r>
              <a:rPr lang="it-IT" dirty="0"/>
              <a:t> Method: Yolov5-PLDPR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5A2265-B8F6-188D-583E-9DE7F6CC2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b="1" dirty="0"/>
              <a:t>Key points:</a:t>
            </a:r>
            <a:endParaRPr lang="en-US" dirty="0"/>
          </a:p>
          <a:p>
            <a:r>
              <a:rPr lang="en-US" b="1" dirty="0"/>
              <a:t>Two-Stage Pipeline:</a:t>
            </a:r>
            <a:endParaRPr lang="en-US" dirty="0"/>
          </a:p>
          <a:p>
            <a:pPr lvl="1"/>
            <a:r>
              <a:rPr lang="en-US" b="1" dirty="0"/>
              <a:t>Stage 1:</a:t>
            </a:r>
            <a:r>
              <a:rPr lang="en-US" dirty="0"/>
              <a:t> YOLOv5 detects and localizes license plates in the image.</a:t>
            </a:r>
          </a:p>
          <a:p>
            <a:pPr lvl="1"/>
            <a:r>
              <a:rPr lang="en-US" b="1" dirty="0"/>
              <a:t>Stage 2:</a:t>
            </a:r>
            <a:r>
              <a:rPr lang="en-US" dirty="0"/>
              <a:t> Custom OCR model reads characters from cropped plates.</a:t>
            </a:r>
          </a:p>
          <a:p>
            <a:r>
              <a:rPr lang="en-US" b="1" dirty="0"/>
              <a:t>OCR Model Architecture:</a:t>
            </a:r>
            <a:endParaRPr lang="en-US" dirty="0"/>
          </a:p>
          <a:p>
            <a:pPr lvl="1"/>
            <a:r>
              <a:rPr lang="en-US" b="1" dirty="0"/>
              <a:t>IGFE (Improved Global Feature Extractor):</a:t>
            </a:r>
            <a:endParaRPr lang="en-US" dirty="0"/>
          </a:p>
          <a:p>
            <a:pPr lvl="2"/>
            <a:r>
              <a:rPr lang="en-US" dirty="0"/>
              <a:t>Extracts rich spatial features with a combination of CNN blocks and residual connections.</a:t>
            </a:r>
          </a:p>
          <a:p>
            <a:pPr lvl="2"/>
            <a:r>
              <a:rPr lang="en-US" dirty="0"/>
              <a:t>Uses a custom </a:t>
            </a:r>
            <a:r>
              <a:rPr lang="en-US" dirty="0" err="1"/>
              <a:t>FocusStructure</a:t>
            </a:r>
            <a:r>
              <a:rPr lang="en-US" dirty="0"/>
              <a:t> for efficient feature </a:t>
            </a:r>
            <a:r>
              <a:rPr lang="en-US" dirty="0" err="1"/>
              <a:t>downsampling</a:t>
            </a:r>
            <a:r>
              <a:rPr lang="en-US" dirty="0"/>
              <a:t>.</a:t>
            </a:r>
          </a:p>
          <a:p>
            <a:pPr lvl="1"/>
            <a:r>
              <a:rPr lang="en-US" b="1" dirty="0"/>
              <a:t>Transformer Encoder-Decoder:</a:t>
            </a:r>
            <a:endParaRPr lang="en-US" dirty="0"/>
          </a:p>
          <a:p>
            <a:pPr lvl="2"/>
            <a:r>
              <a:rPr lang="en-US" dirty="0"/>
              <a:t>Encoder applies positional 2D encoding + multi-head self-attention layers to model spatial dependencies.</a:t>
            </a:r>
          </a:p>
          <a:p>
            <a:pPr lvl="2"/>
            <a:r>
              <a:rPr lang="en-US" dirty="0"/>
              <a:t>Decoder uses self-attention and cross-attention with encoder output to predict character sequences.</a:t>
            </a:r>
          </a:p>
          <a:p>
            <a:pPr lvl="2"/>
            <a:r>
              <a:rPr lang="en-US" dirty="0"/>
              <a:t>Adaptive pooling and linear classifier decode features into character probabilities over 68 classes.</a:t>
            </a:r>
          </a:p>
          <a:p>
            <a:r>
              <a:rPr lang="en-US" b="1" dirty="0"/>
              <a:t>Advantages:</a:t>
            </a:r>
            <a:endParaRPr lang="en-US" dirty="0"/>
          </a:p>
          <a:p>
            <a:pPr lvl="1"/>
            <a:r>
              <a:rPr lang="en-US" dirty="0"/>
              <a:t>Transformer architecture captures global context, improving character recognition accuracy.</a:t>
            </a:r>
          </a:p>
          <a:p>
            <a:pPr lvl="1"/>
            <a:r>
              <a:rPr lang="en-US" dirty="0"/>
              <a:t>Modular design separates detection and recognition for flexibility.</a:t>
            </a:r>
          </a:p>
          <a:p>
            <a:pPr lvl="1"/>
            <a:r>
              <a:rPr lang="en-US" dirty="0"/>
              <a:t>State-of-the-art performance reported in the paper.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95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4FFCF9-7D0C-2402-1C3D-1BE64F441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Immaginetta che spiega </a:t>
            </a:r>
            <a:r>
              <a:rPr lang="it-IT" dirty="0" err="1"/>
              <a:t>pdlpr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C8836F-C7E2-2208-DDE7-1878B6ADA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3829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57285F-AB87-C6D2-382F-0C3444777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Database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AB663A-4EE7-99A0-E867-88DD84977F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Chinese City Parking Dataset (CCPD):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large-scale, publicly available dataset for license plate detection and recognition.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Contains over 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250,000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images of vehicles with annotated license plates.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 Characteristics: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Diverse conditions: various lighting, weather, and viewpoints.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Plates captured in real-world scenarios including occlusion, blur, and distortion.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Annotations include bounding boxes for plates and character-level labels.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Importance for Research:</a:t>
            </a: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Enables training of robust deep learning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benchmark for ALPR tasks in academic and industrial research.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evaluation of both plate detection and OCR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altLang="it-IT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056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C754A36-DF85-F96E-76A2-762DA3FFD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Evaluation </a:t>
            </a:r>
            <a:r>
              <a:rPr lang="it-IT" dirty="0" err="1"/>
              <a:t>metrics</a:t>
            </a:r>
            <a:r>
              <a:rPr lang="it-IT" dirty="0"/>
              <a:t> (?)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CA3DE7-4295-C0D2-6218-C774EF174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620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9B249F-9E5D-CE1B-E509-2B705897D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Baseline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0673C2-4259-E940-BA76-F3278CE34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321472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9A950-2610-555F-CFBE-B7C7B998F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Immaginette sui risultati della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739205-036A-CBB0-4A9F-24C3273C5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8511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B0E1CE-6F82-55B3-1E91-802F2D52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Pldpdlpld</a:t>
            </a:r>
            <a:r>
              <a:rPr lang="it-IT" dirty="0"/>
              <a:t>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873603-D151-F2BA-25A7-3FE5528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611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EA3777-3C02-CEC5-06BC-DCF3CCAC6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3824AB-206A-EABF-3DC9-6B3673F57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2519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AD8A9C-F1B5-BDEE-081E-01005561D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Comparison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B194E3-BC19-9479-B9A6-3E120281E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Chi fa meglio?</a:t>
            </a:r>
          </a:p>
        </p:txBody>
      </p:sp>
    </p:spTree>
    <p:extLst>
      <p:ext uri="{BB962C8B-B14F-4D97-AF65-F5344CB8AC3E}">
        <p14:creationId xmlns:p14="http://schemas.microsoft.com/office/powerpoint/2010/main" val="139161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0287E1-23AB-008F-B8EE-5999358A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Conclusions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3C0A65-E612-05C2-7D56-9BBEE36D9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2735556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638</Words>
  <Application>Microsoft Office PowerPoint</Application>
  <PresentationFormat>Widescreen</PresentationFormat>
  <Paragraphs>77</Paragraphs>
  <Slides>17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1" baseType="lpstr">
      <vt:lpstr>Arial</vt:lpstr>
      <vt:lpstr>Arial Nova Light</vt:lpstr>
      <vt:lpstr>Grandview Display</vt:lpstr>
      <vt:lpstr>DashVTI</vt:lpstr>
      <vt:lpstr>Car Plate Recognition and Reconstruction with Deep Learning</vt:lpstr>
      <vt:lpstr>Presentazione standard di PowerPoint</vt:lpstr>
      <vt:lpstr>Outline</vt:lpstr>
      <vt:lpstr>Introduction</vt:lpstr>
      <vt:lpstr>Related works</vt:lpstr>
      <vt:lpstr>Proposed Method: Unified ResNet18</vt:lpstr>
      <vt:lpstr>Immaginette per spiegare come funziona il nostro algoritmo</vt:lpstr>
      <vt:lpstr>Paper Proposed Method: Yolov5-PLDPR</vt:lpstr>
      <vt:lpstr>Immaginetta che spiega pdlpr</vt:lpstr>
      <vt:lpstr>Database</vt:lpstr>
      <vt:lpstr>Evaluation metrics (?)</vt:lpstr>
      <vt:lpstr>Baseline results</vt:lpstr>
      <vt:lpstr>Immaginette sui risultati della baseline</vt:lpstr>
      <vt:lpstr>Pldpdlpld results</vt:lpstr>
      <vt:lpstr>Results</vt:lpstr>
      <vt:lpstr>Comparison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Federica Sardo</dc:creator>
  <cp:lastModifiedBy>Federica Sardo</cp:lastModifiedBy>
  <cp:revision>1</cp:revision>
  <dcterms:created xsi:type="dcterms:W3CDTF">2025-07-20T14:56:56Z</dcterms:created>
  <dcterms:modified xsi:type="dcterms:W3CDTF">2025-07-20T15:19:06Z</dcterms:modified>
</cp:coreProperties>
</file>