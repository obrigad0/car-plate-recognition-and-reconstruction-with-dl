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23"/>
  </p:notesMasterIdLst>
  <p:sldIdLst>
    <p:sldId id="256" r:id="rId2"/>
    <p:sldId id="258" r:id="rId3"/>
    <p:sldId id="260" r:id="rId4"/>
    <p:sldId id="262" r:id="rId5"/>
    <p:sldId id="263" r:id="rId6"/>
    <p:sldId id="264" r:id="rId7"/>
    <p:sldId id="317" r:id="rId8"/>
    <p:sldId id="265" r:id="rId9"/>
    <p:sldId id="266" r:id="rId10"/>
    <p:sldId id="267" r:id="rId11"/>
    <p:sldId id="307" r:id="rId12"/>
    <p:sldId id="272" r:id="rId13"/>
    <p:sldId id="308" r:id="rId14"/>
    <p:sldId id="309" r:id="rId15"/>
    <p:sldId id="316" r:id="rId16"/>
    <p:sldId id="314" r:id="rId17"/>
    <p:sldId id="315" r:id="rId18"/>
    <p:sldId id="312" r:id="rId19"/>
    <p:sldId id="313" r:id="rId20"/>
    <p:sldId id="311" r:id="rId21"/>
    <p:sldId id="310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IBM Plex Mono" panose="020B0509050203000203" pitchFamily="49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Source Code Pro" panose="020B0509030403020204" pitchFamily="49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F7"/>
    <a:srgbClr val="0C0A9E"/>
    <a:srgbClr val="EEC144"/>
    <a:srgbClr val="820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0F46F1-7307-4841-9D36-C1E3C260DABC}">
  <a:tblStyle styleId="{EE0F46F1-7307-4841-9D36-C1E3C260D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PDLPR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Foglio1!$A$2:$A$8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Foglio1!$B$2:$B$8</c:f>
              <c:numCache>
                <c:formatCode>General</c:formatCode>
                <c:ptCount val="7"/>
                <c:pt idx="0">
                  <c:v>0.995</c:v>
                </c:pt>
                <c:pt idx="1">
                  <c:v>0.999</c:v>
                </c:pt>
                <c:pt idx="2">
                  <c:v>0.997</c:v>
                </c:pt>
                <c:pt idx="3">
                  <c:v>0.998</c:v>
                </c:pt>
                <c:pt idx="4">
                  <c:v>0.999</c:v>
                </c:pt>
                <c:pt idx="5">
                  <c:v>0.998</c:v>
                </c:pt>
                <c:pt idx="6">
                  <c:v>0.998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D5-427A-BF66-A690141EFA4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RN18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Foglio1!$A$2:$A$8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Foglio1!$C$2:$C$8</c:f>
              <c:numCache>
                <c:formatCode>General</c:formatCode>
                <c:ptCount val="7"/>
                <c:pt idx="0">
                  <c:v>0.94499999999999995</c:v>
                </c:pt>
                <c:pt idx="1">
                  <c:v>0.95499999999999996</c:v>
                </c:pt>
                <c:pt idx="2">
                  <c:v>0.995</c:v>
                </c:pt>
                <c:pt idx="3">
                  <c:v>0.998</c:v>
                </c:pt>
                <c:pt idx="4">
                  <c:v>0.999</c:v>
                </c:pt>
                <c:pt idx="5">
                  <c:v>0.998</c:v>
                </c:pt>
                <c:pt idx="6">
                  <c:v>0.996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D5-427A-BF66-A690141EF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0343791"/>
        <c:axId val="1800341391"/>
      </c:barChart>
      <c:catAx>
        <c:axId val="1800343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0341391"/>
        <c:crosses val="autoZero"/>
        <c:auto val="1"/>
        <c:lblAlgn val="ctr"/>
        <c:lblOffset val="100"/>
        <c:noMultiLvlLbl val="0"/>
      </c:catAx>
      <c:valAx>
        <c:axId val="1800341391"/>
        <c:scaling>
          <c:orientation val="minMax"/>
          <c:max val="1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034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PDLPR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Foglio1!$A$2:$A$11</c:f>
              <c:strCache>
                <c:ptCount val="10"/>
                <c:pt idx="0">
                  <c:v>S -&gt; 5</c:v>
                </c:pt>
                <c:pt idx="1">
                  <c:v>G -&gt; D</c:v>
                </c:pt>
                <c:pt idx="2">
                  <c:v>H -&gt; M</c:v>
                </c:pt>
                <c:pt idx="3">
                  <c:v>Q -&gt; D</c:v>
                </c:pt>
                <c:pt idx="4">
                  <c:v>J -&gt; B</c:v>
                </c:pt>
                <c:pt idx="5">
                  <c:v>0 -&gt; D</c:v>
                </c:pt>
                <c:pt idx="6">
                  <c:v>D -&gt; 0</c:v>
                </c:pt>
                <c:pt idx="7">
                  <c:v>K -&gt; N</c:v>
                </c:pt>
                <c:pt idx="8">
                  <c:v>M -&gt; H</c:v>
                </c:pt>
                <c:pt idx="9">
                  <c:v>F -&gt; E</c:v>
                </c:pt>
              </c:strCache>
            </c:strRef>
          </c:cat>
          <c:val>
            <c:numRef>
              <c:f>Foglio1!$B$2:$B$11</c:f>
              <c:numCache>
                <c:formatCode>General</c:formatCode>
                <c:ptCount val="10"/>
                <c:pt idx="0">
                  <c:v>30</c:v>
                </c:pt>
                <c:pt idx="1">
                  <c:v>30</c:v>
                </c:pt>
                <c:pt idx="2">
                  <c:v>32</c:v>
                </c:pt>
                <c:pt idx="3">
                  <c:v>32</c:v>
                </c:pt>
                <c:pt idx="4">
                  <c:v>41</c:v>
                </c:pt>
                <c:pt idx="5">
                  <c:v>42</c:v>
                </c:pt>
                <c:pt idx="6">
                  <c:v>44</c:v>
                </c:pt>
                <c:pt idx="7">
                  <c:v>45</c:v>
                </c:pt>
                <c:pt idx="8">
                  <c:v>52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5-4B4F-AF42-8EF4EAF8D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2375791"/>
        <c:axId val="1332378671"/>
      </c:barChart>
      <c:catAx>
        <c:axId val="1332375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8671"/>
        <c:crosses val="autoZero"/>
        <c:auto val="1"/>
        <c:lblAlgn val="ctr"/>
        <c:lblOffset val="100"/>
        <c:noMultiLvlLbl val="0"/>
      </c:catAx>
      <c:valAx>
        <c:axId val="1332378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5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RN18</c:v>
                </c:pt>
              </c:strCache>
            </c:strRef>
          </c:tx>
          <c:spPr>
            <a:solidFill>
              <a:srgbClr val="BFBEF7"/>
            </a:solidFill>
            <a:ln>
              <a:noFill/>
            </a:ln>
            <a:effectLst/>
          </c:spPr>
          <c:invertIfNegative val="0"/>
          <c:cat>
            <c:strRef>
              <c:f>Foglio1!$A$2:$A$11</c:f>
              <c:strCache>
                <c:ptCount val="10"/>
                <c:pt idx="0">
                  <c:v>N -&gt; K</c:v>
                </c:pt>
                <c:pt idx="1">
                  <c:v>E -&gt; C</c:v>
                </c:pt>
                <c:pt idx="2">
                  <c:v>L -&gt; E</c:v>
                </c:pt>
                <c:pt idx="3">
                  <c:v>D -&gt; B</c:v>
                </c:pt>
                <c:pt idx="4">
                  <c:v>M -&gt; H</c:v>
                </c:pt>
                <c:pt idx="5">
                  <c:v>G -&gt; D</c:v>
                </c:pt>
                <c:pt idx="6">
                  <c:v>J -&gt; B</c:v>
                </c:pt>
                <c:pt idx="7">
                  <c:v>K -&gt; N</c:v>
                </c:pt>
                <c:pt idx="8">
                  <c:v>F -&gt; E</c:v>
                </c:pt>
                <c:pt idx="9">
                  <c:v>Q -&gt; D</c:v>
                </c:pt>
              </c:strCache>
            </c:strRef>
          </c:cat>
          <c:val>
            <c:numRef>
              <c:f>Foglio1!$B$2:$B$11</c:f>
              <c:numCache>
                <c:formatCode>General</c:formatCode>
                <c:ptCount val="10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16</c:v>
                </c:pt>
                <c:pt idx="5">
                  <c:v>19</c:v>
                </c:pt>
                <c:pt idx="6">
                  <c:v>19</c:v>
                </c:pt>
                <c:pt idx="7">
                  <c:v>25</c:v>
                </c:pt>
                <c:pt idx="8">
                  <c:v>26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5-4B4F-AF42-8EF4EAF8D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2375791"/>
        <c:axId val="1332378671"/>
      </c:barChart>
      <c:catAx>
        <c:axId val="1332375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8671"/>
        <c:crosses val="autoZero"/>
        <c:auto val="1"/>
        <c:lblAlgn val="ctr"/>
        <c:lblOffset val="100"/>
        <c:noMultiLvlLbl val="0"/>
      </c:catAx>
      <c:valAx>
        <c:axId val="1332378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5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>
          <a:extLst>
            <a:ext uri="{FF2B5EF4-FFF2-40B4-BE49-F238E27FC236}">
              <a16:creationId xmlns:a16="http://schemas.microsoft.com/office/drawing/2014/main" id="{8547CE93-CABE-106F-93DF-815D7840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>
            <a:extLst>
              <a:ext uri="{FF2B5EF4-FFF2-40B4-BE49-F238E27FC236}">
                <a16:creationId xmlns:a16="http://schemas.microsoft.com/office/drawing/2014/main" id="{2C9FC0D4-022A-BC42-7ED0-C63CD0058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>
            <a:extLst>
              <a:ext uri="{FF2B5EF4-FFF2-40B4-BE49-F238E27FC236}">
                <a16:creationId xmlns:a16="http://schemas.microsoft.com/office/drawing/2014/main" id="{904E62B3-D8EF-C684-8D2F-77326303D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91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>
          <a:extLst>
            <a:ext uri="{FF2B5EF4-FFF2-40B4-BE49-F238E27FC236}">
              <a16:creationId xmlns:a16="http://schemas.microsoft.com/office/drawing/2014/main" id="{6E117D8F-0FA1-FA09-BE7B-E64DA9DF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>
            <a:extLst>
              <a:ext uri="{FF2B5EF4-FFF2-40B4-BE49-F238E27FC236}">
                <a16:creationId xmlns:a16="http://schemas.microsoft.com/office/drawing/2014/main" id="{D496756B-79DE-AD4C-095A-88D891599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>
            <a:extLst>
              <a:ext uri="{FF2B5EF4-FFF2-40B4-BE49-F238E27FC236}">
                <a16:creationId xmlns:a16="http://schemas.microsoft.com/office/drawing/2014/main" id="{ED0018A1-30F7-3141-6AC4-8F8F4BE08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752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>
          <a:extLst>
            <a:ext uri="{FF2B5EF4-FFF2-40B4-BE49-F238E27FC236}">
              <a16:creationId xmlns:a16="http://schemas.microsoft.com/office/drawing/2014/main" id="{630E7857-1347-4FCE-D359-1993DC43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>
            <a:extLst>
              <a:ext uri="{FF2B5EF4-FFF2-40B4-BE49-F238E27FC236}">
                <a16:creationId xmlns:a16="http://schemas.microsoft.com/office/drawing/2014/main" id="{DC816DF6-C2D7-26F4-B74F-D1820443E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>
            <a:extLst>
              <a:ext uri="{FF2B5EF4-FFF2-40B4-BE49-F238E27FC236}">
                <a16:creationId xmlns:a16="http://schemas.microsoft.com/office/drawing/2014/main" id="{9420E07C-8EC6-149B-FB88-31F26F347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889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9664CCDE-1939-8F6F-27CE-EC74C75A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AA35AD9E-01DB-E0C5-0A83-D692C0369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11C250BE-EEB7-B7E7-D78F-19FE67230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889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DD53CA5B-4129-3C4F-9CFB-766C9324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AD5D33EE-4D14-E926-CA5C-C0CA79C94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5E537175-6488-D249-B019-95E7327C3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469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436CBA26-384D-41E3-326B-4745019C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565A62B1-276A-3358-785C-793AA0D82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09E904FA-34B0-0C54-7565-10888D5B9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733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EA51330B-C7D3-3844-26D8-0D7F89B8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925C320D-8152-0065-F0CF-F2797C70B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EA5AE5CB-41E8-F8EF-EB66-ADB6BDE72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383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98BFA97B-7A05-CE21-7B47-00DBFFDB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E5E4F4B0-A1D3-73E0-7E29-9DF587CC3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717534D7-50F6-9E1E-5BC7-1495B0918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041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123198B1-4840-C3CC-2679-D26AD408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>
            <a:extLst>
              <a:ext uri="{FF2B5EF4-FFF2-40B4-BE49-F238E27FC236}">
                <a16:creationId xmlns:a16="http://schemas.microsoft.com/office/drawing/2014/main" id="{4DA36F88-4D21-A3D8-73D0-EA3615BC7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>
            <a:extLst>
              <a:ext uri="{FF2B5EF4-FFF2-40B4-BE49-F238E27FC236}">
                <a16:creationId xmlns:a16="http://schemas.microsoft.com/office/drawing/2014/main" id="{B793A9C6-AA7D-6FCA-1DE6-568922F21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67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7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27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9" name="Google Shape;1219;p27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0" name="Google Shape;1220;p27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27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27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7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4" name="Google Shape;1224;p27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5" name="Google Shape;1225;p27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6" name="Google Shape;1226;p27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7" name="Google Shape;1227;p27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8" name="Google Shape;1228;p27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59" r:id="rId6"/>
    <p:sldLayoutId id="2147483665" r:id="rId7"/>
    <p:sldLayoutId id="2147483670" r:id="rId8"/>
    <p:sldLayoutId id="2147483671" r:id="rId9"/>
    <p:sldLayoutId id="2147483672" r:id="rId10"/>
    <p:sldLayoutId id="2147483673" r:id="rId11"/>
    <p:sldLayoutId id="2147483676" r:id="rId12"/>
    <p:sldLayoutId id="2147483677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i="1" dirty="0"/>
              <a:t>Computer Vision – A.Y. 2024-2025</a:t>
            </a:r>
          </a:p>
          <a:p>
            <a:r>
              <a:rPr lang="it-IT" dirty="0"/>
              <a:t>Flavio Corsetti – 1997818</a:t>
            </a:r>
          </a:p>
          <a:p>
            <a:r>
              <a:rPr lang="it-IT" dirty="0"/>
              <a:t>Federica Sardo - 1760539</a:t>
            </a:r>
          </a:p>
          <a:p>
            <a:br>
              <a:rPr lang="it-IT" dirty="0"/>
            </a:b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 dirty="0">
                <a:solidFill>
                  <a:schemeClr val="dk2"/>
                </a:solidFill>
              </a:rPr>
              <a:t>Car Plate Recognition </a:t>
            </a:r>
            <a:r>
              <a:rPr lang="en-US" sz="3200" dirty="0"/>
              <a:t>and</a:t>
            </a:r>
            <a:br>
              <a:rPr lang="en-US" sz="3200" dirty="0"/>
            </a:br>
            <a:r>
              <a:rPr lang="en-US" sz="3200" dirty="0"/>
              <a:t>Reconstruction with Deep Learning</a:t>
            </a:r>
            <a:endParaRPr sz="32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Outline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9"/>
          </p:nvPr>
        </p:nvSpPr>
        <p:spPr>
          <a:xfrm>
            <a:off x="720000" y="729192"/>
            <a:ext cx="5982251" cy="3839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1600" dirty="0" err="1"/>
              <a:t>Introduction</a:t>
            </a:r>
            <a:endParaRPr lang="it-IT" sz="1600" dirty="0"/>
          </a:p>
          <a:p>
            <a:r>
              <a:rPr lang="it-IT" sz="1600" dirty="0" err="1"/>
              <a:t>Proposed</a:t>
            </a:r>
            <a:r>
              <a:rPr lang="it-IT" sz="1600" dirty="0"/>
              <a:t> </a:t>
            </a:r>
            <a:r>
              <a:rPr lang="it-IT" sz="1600" dirty="0" err="1"/>
              <a:t>methods</a:t>
            </a:r>
            <a:endParaRPr lang="it-IT" sz="1600" dirty="0"/>
          </a:p>
          <a:p>
            <a:r>
              <a:rPr lang="it-IT" sz="1600" dirty="0"/>
              <a:t>Datasets and </a:t>
            </a:r>
            <a:r>
              <a:rPr lang="it-IT" sz="1600" dirty="0" err="1"/>
              <a:t>metrics</a:t>
            </a:r>
            <a:endParaRPr lang="it-IT" sz="1600" dirty="0"/>
          </a:p>
          <a:p>
            <a:r>
              <a:rPr lang="it-IT" sz="1600" dirty="0" err="1"/>
              <a:t>Experimental</a:t>
            </a:r>
            <a:r>
              <a:rPr lang="it-IT" sz="1600" dirty="0"/>
              <a:t> </a:t>
            </a:r>
            <a:r>
              <a:rPr lang="it-IT" sz="1600" dirty="0" err="1"/>
              <a:t>results</a:t>
            </a:r>
            <a:endParaRPr lang="it-IT" sz="1600" dirty="0"/>
          </a:p>
          <a:p>
            <a:r>
              <a:rPr lang="it-IT" sz="1600" dirty="0" err="1"/>
              <a:t>Comparison</a:t>
            </a:r>
            <a:endParaRPr lang="it-IT" sz="1600" dirty="0"/>
          </a:p>
          <a:p>
            <a:r>
              <a:rPr lang="it-IT" sz="1600" dirty="0" err="1"/>
              <a:t>Conclusions</a:t>
            </a:r>
            <a:endParaRPr lang="it-IT" sz="1600" dirty="0"/>
          </a:p>
          <a:p>
            <a:r>
              <a:rPr lang="it-IT" sz="1600" dirty="0" err="1"/>
              <a:t>References</a:t>
            </a:r>
            <a:endParaRPr lang="it-IT" sz="1600" dirty="0"/>
          </a:p>
          <a:p>
            <a:br>
              <a:rPr lang="it-IT" dirty="0"/>
            </a:b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E02549F-D309-AE61-8914-7B9099AD6517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19999" y="1177071"/>
            <a:ext cx="7851245" cy="981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Our goal was to develop a computer vision system to </a:t>
            </a:r>
            <a:r>
              <a:rPr lang="en-US" b="1" dirty="0"/>
              <a:t>detect license plates in images </a:t>
            </a:r>
            <a:r>
              <a:rPr lang="en-US" dirty="0"/>
              <a:t>using bounding box localization and extract text through optical character recognition, handling varied lighting and viewing angles for real-world accuracy.</a:t>
            </a:r>
            <a:endParaRPr dirty="0"/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2125;p54">
            <a:extLst>
              <a:ext uri="{FF2B5EF4-FFF2-40B4-BE49-F238E27FC236}">
                <a16:creationId xmlns:a16="http://schemas.microsoft.com/office/drawing/2014/main" id="{4F5CEE66-61D9-808A-0350-DA37ABEDD926}"/>
              </a:ext>
            </a:extLst>
          </p:cNvPr>
          <p:cNvSpPr txBox="1"/>
          <p:nvPr/>
        </p:nvSpPr>
        <p:spPr>
          <a:xfrm>
            <a:off x="2927154" y="2282608"/>
            <a:ext cx="366619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71;p42">
            <a:extLst>
              <a:ext uri="{FF2B5EF4-FFF2-40B4-BE49-F238E27FC236}">
                <a16:creationId xmlns:a16="http://schemas.microsoft.com/office/drawing/2014/main" id="{C1B8FD63-70ED-D2BA-0A16-4804431DB0D0}"/>
              </a:ext>
            </a:extLst>
          </p:cNvPr>
          <p:cNvSpPr txBox="1">
            <a:spLocks/>
          </p:cNvSpPr>
          <p:nvPr/>
        </p:nvSpPr>
        <p:spPr>
          <a:xfrm>
            <a:off x="794028" y="2979366"/>
            <a:ext cx="1512427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Baseline Development</a:t>
            </a:r>
            <a:endParaRPr lang="it-IT" dirty="0"/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415E2D-0783-BCA5-51AF-F2C87B45332C}"/>
              </a:ext>
            </a:extLst>
          </p:cNvPr>
          <p:cNvSpPr txBox="1"/>
          <p:nvPr/>
        </p:nvSpPr>
        <p:spPr>
          <a:xfrm>
            <a:off x="794028" y="3230268"/>
            <a:ext cx="1697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Create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proprietary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baseline model</a:t>
            </a:r>
          </a:p>
        </p:txBody>
      </p:sp>
      <p:sp>
        <p:nvSpPr>
          <p:cNvPr id="7" name="Google Shape;2125;p54">
            <a:extLst>
              <a:ext uri="{FF2B5EF4-FFF2-40B4-BE49-F238E27FC236}">
                <a16:creationId xmlns:a16="http://schemas.microsoft.com/office/drawing/2014/main" id="{2A4CF72E-E2DA-83F8-3EED-3329CE141844}"/>
              </a:ext>
            </a:extLst>
          </p:cNvPr>
          <p:cNvSpPr txBox="1"/>
          <p:nvPr/>
        </p:nvSpPr>
        <p:spPr>
          <a:xfrm>
            <a:off x="449379" y="2312641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671;p42">
            <a:extLst>
              <a:ext uri="{FF2B5EF4-FFF2-40B4-BE49-F238E27FC236}">
                <a16:creationId xmlns:a16="http://schemas.microsoft.com/office/drawing/2014/main" id="{232442C6-8E8D-1039-40B0-8F85B154F515}"/>
              </a:ext>
            </a:extLst>
          </p:cNvPr>
          <p:cNvSpPr txBox="1">
            <a:spLocks/>
          </p:cNvSpPr>
          <p:nvPr/>
        </p:nvSpPr>
        <p:spPr>
          <a:xfrm>
            <a:off x="2922615" y="2665379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Model </a:t>
            </a:r>
            <a:r>
              <a:rPr lang="it-IT" b="1" dirty="0" err="1"/>
              <a:t>Implementation</a:t>
            </a:r>
            <a:endParaRPr lang="it-IT" dirty="0"/>
          </a:p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E15026-3AB7-BB4C-7898-3E20B6F78ACE}"/>
              </a:ext>
            </a:extLst>
          </p:cNvPr>
          <p:cNvSpPr txBox="1"/>
          <p:nvPr/>
        </p:nvSpPr>
        <p:spPr>
          <a:xfrm>
            <a:off x="2913433" y="3214927"/>
            <a:ext cx="1453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Develop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Yolov5 and PDLPR models</a:t>
            </a:r>
          </a:p>
        </p:txBody>
      </p:sp>
      <p:sp>
        <p:nvSpPr>
          <p:cNvPr id="11" name="Google Shape;2125;p54">
            <a:extLst>
              <a:ext uri="{FF2B5EF4-FFF2-40B4-BE49-F238E27FC236}">
                <a16:creationId xmlns:a16="http://schemas.microsoft.com/office/drawing/2014/main" id="{9A5D159C-FAFD-C196-6F6B-890A94A8BD61}"/>
              </a:ext>
            </a:extLst>
          </p:cNvPr>
          <p:cNvSpPr txBox="1"/>
          <p:nvPr/>
        </p:nvSpPr>
        <p:spPr>
          <a:xfrm>
            <a:off x="4966691" y="2312641"/>
            <a:ext cx="42951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671;p42">
            <a:extLst>
              <a:ext uri="{FF2B5EF4-FFF2-40B4-BE49-F238E27FC236}">
                <a16:creationId xmlns:a16="http://schemas.microsoft.com/office/drawing/2014/main" id="{5E22E160-9059-E7FC-C322-1436648C891C}"/>
              </a:ext>
            </a:extLst>
          </p:cNvPr>
          <p:cNvSpPr txBox="1">
            <a:spLocks/>
          </p:cNvSpPr>
          <p:nvPr/>
        </p:nvSpPr>
        <p:spPr>
          <a:xfrm>
            <a:off x="4993844" y="2703773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Testing &amp; Evaluation</a:t>
            </a:r>
            <a:endParaRPr lang="it-IT" dirty="0"/>
          </a:p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15761F-26CB-E88C-33B8-48F53324F0AB}"/>
              </a:ext>
            </a:extLst>
          </p:cNvPr>
          <p:cNvSpPr txBox="1"/>
          <p:nvPr/>
        </p:nvSpPr>
        <p:spPr>
          <a:xfrm>
            <a:off x="4993844" y="3250819"/>
            <a:ext cx="1453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Benchmark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models</a:t>
            </a:r>
          </a:p>
        </p:txBody>
      </p:sp>
      <p:sp>
        <p:nvSpPr>
          <p:cNvPr id="14" name="Google Shape;2125;p54">
            <a:extLst>
              <a:ext uri="{FF2B5EF4-FFF2-40B4-BE49-F238E27FC236}">
                <a16:creationId xmlns:a16="http://schemas.microsoft.com/office/drawing/2014/main" id="{68DBE52C-EA62-FC94-F218-7E6B20009090}"/>
              </a:ext>
            </a:extLst>
          </p:cNvPr>
          <p:cNvSpPr txBox="1"/>
          <p:nvPr/>
        </p:nvSpPr>
        <p:spPr>
          <a:xfrm>
            <a:off x="6533424" y="2281565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1671;p42">
            <a:extLst>
              <a:ext uri="{FF2B5EF4-FFF2-40B4-BE49-F238E27FC236}">
                <a16:creationId xmlns:a16="http://schemas.microsoft.com/office/drawing/2014/main" id="{17494CB4-3297-8221-9C54-DCE2BACA68BB}"/>
              </a:ext>
            </a:extLst>
          </p:cNvPr>
          <p:cNvSpPr txBox="1">
            <a:spLocks/>
          </p:cNvSpPr>
          <p:nvPr/>
        </p:nvSpPr>
        <p:spPr>
          <a:xfrm>
            <a:off x="6837545" y="2660426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Performance </a:t>
            </a:r>
            <a:r>
              <a:rPr lang="it-IT" b="1" dirty="0" err="1"/>
              <a:t>Comparison</a:t>
            </a:r>
            <a:endParaRPr lang="it-IT" dirty="0"/>
          </a:p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07B4D30-0621-2BEE-5CB2-CA1B3DF39C74}"/>
              </a:ext>
            </a:extLst>
          </p:cNvPr>
          <p:cNvSpPr txBox="1"/>
          <p:nvPr/>
        </p:nvSpPr>
        <p:spPr>
          <a:xfrm>
            <a:off x="6837545" y="3206921"/>
            <a:ext cx="1875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Compare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document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findings</a:t>
            </a:r>
            <a:endParaRPr lang="it-IT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019A74C-E582-58C0-9623-EBB8FBFCE08E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33038F74-93E9-8909-09A8-AE81B91543C2}"/>
              </a:ext>
            </a:extLst>
          </p:cNvPr>
          <p:cNvSpPr/>
          <p:nvPr/>
        </p:nvSpPr>
        <p:spPr>
          <a:xfrm>
            <a:off x="6442364" y="202623"/>
            <a:ext cx="1982343" cy="431742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486205" y="382518"/>
            <a:ext cx="4085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Yolov5-PDLPR Architecture Overview</a:t>
            </a:r>
            <a:endParaRPr sz="2400" dirty="0"/>
          </a:p>
        </p:txBody>
      </p:sp>
      <p:pic>
        <p:nvPicPr>
          <p:cNvPr id="17" name="Immagine 16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467A5D44-148E-3A91-4B9C-ACDA32A11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85" y="1371308"/>
            <a:ext cx="1781175" cy="542925"/>
          </a:xfrm>
          <a:prstGeom prst="rect">
            <a:avLst/>
          </a:prstGeom>
        </p:spPr>
      </p:pic>
      <p:pic>
        <p:nvPicPr>
          <p:cNvPr id="1034" name="Picture 10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0D3494EE-E554-0A9C-184E-F85501191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12" y="1418359"/>
            <a:ext cx="1831635" cy="295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ttangolo 22">
            <a:extLst>
              <a:ext uri="{FF2B5EF4-FFF2-40B4-BE49-F238E27FC236}">
                <a16:creationId xmlns:a16="http://schemas.microsoft.com/office/drawing/2014/main" id="{6C6B4A42-8EDA-588F-ADD7-101E70028C78}"/>
              </a:ext>
            </a:extLst>
          </p:cNvPr>
          <p:cNvSpPr/>
          <p:nvPr/>
        </p:nvSpPr>
        <p:spPr>
          <a:xfrm>
            <a:off x="3226376" y="2267816"/>
            <a:ext cx="1831635" cy="1252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Google Shape;1671;p42">
            <a:extLst>
              <a:ext uri="{FF2B5EF4-FFF2-40B4-BE49-F238E27FC236}">
                <a16:creationId xmlns:a16="http://schemas.microsoft.com/office/drawing/2014/main" id="{A309455F-7ED4-8163-40F4-0E030E832D7D}"/>
              </a:ext>
            </a:extLst>
          </p:cNvPr>
          <p:cNvSpPr txBox="1">
            <a:spLocks/>
          </p:cNvSpPr>
          <p:nvPr/>
        </p:nvSpPr>
        <p:spPr>
          <a:xfrm>
            <a:off x="3151023" y="2844285"/>
            <a:ext cx="1982343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Object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Yolov5</a:t>
            </a:r>
          </a:p>
          <a:p>
            <a:endParaRPr lang="it-IT" dirty="0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171C1C6-5FB4-54CB-35D9-421D9C620EAC}"/>
              </a:ext>
            </a:extLst>
          </p:cNvPr>
          <p:cNvSpPr/>
          <p:nvPr/>
        </p:nvSpPr>
        <p:spPr>
          <a:xfrm>
            <a:off x="6779255" y="533640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IGFE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29C4E17-C572-4C02-1E0B-332D7D12776C}"/>
              </a:ext>
            </a:extLst>
          </p:cNvPr>
          <p:cNvSpPr/>
          <p:nvPr/>
        </p:nvSpPr>
        <p:spPr>
          <a:xfrm>
            <a:off x="6779255" y="1709373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Encoder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485D285-5F64-C17C-F0CB-394911C84DED}"/>
              </a:ext>
            </a:extLst>
          </p:cNvPr>
          <p:cNvSpPr/>
          <p:nvPr/>
        </p:nvSpPr>
        <p:spPr>
          <a:xfrm>
            <a:off x="6779254" y="2885106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Parallel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Decoder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15E4E7E4-47CF-F2D0-E9C9-DEE21C66434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7455071" y="1418359"/>
            <a:ext cx="0" cy="29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ADC26320-DE2A-8CDF-EF3B-6E1E82C46623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7455070" y="2594092"/>
            <a:ext cx="1" cy="29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B417B628-80B2-CDAB-8DC4-F998498654A2}"/>
              </a:ext>
            </a:extLst>
          </p:cNvPr>
          <p:cNvCxnSpPr>
            <a:stCxn id="33" idx="2"/>
          </p:cNvCxnSpPr>
          <p:nvPr/>
        </p:nvCxnSpPr>
        <p:spPr>
          <a:xfrm flipH="1">
            <a:off x="7455069" y="3769825"/>
            <a:ext cx="1" cy="282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1D63009-977D-8B9C-9108-08E5D763F5EF}"/>
              </a:ext>
            </a:extLst>
          </p:cNvPr>
          <p:cNvSpPr txBox="1"/>
          <p:nvPr/>
        </p:nvSpPr>
        <p:spPr>
          <a:xfrm>
            <a:off x="6877967" y="4114801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it-IT" b="1" dirty="0"/>
              <a:t> 皖</a:t>
            </a:r>
            <a:r>
              <a:rPr lang="it-IT" b="1" dirty="0"/>
              <a:t>AR0011</a:t>
            </a:r>
            <a:endParaRPr lang="it-IT" dirty="0"/>
          </a:p>
          <a:p>
            <a:br>
              <a:rPr lang="it-IT" dirty="0"/>
            </a:br>
            <a:endParaRPr lang="it-IT" dirty="0"/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1885ED0D-2579-5599-E41D-42029CB1272F}"/>
              </a:ext>
            </a:extLst>
          </p:cNvPr>
          <p:cNvCxnSpPr>
            <a:stCxn id="1034" idx="3"/>
            <a:endCxn id="23" idx="1"/>
          </p:cNvCxnSpPr>
          <p:nvPr/>
        </p:nvCxnSpPr>
        <p:spPr>
          <a:xfrm>
            <a:off x="2364747" y="2893868"/>
            <a:ext cx="861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a gomito 44">
            <a:extLst>
              <a:ext uri="{FF2B5EF4-FFF2-40B4-BE49-F238E27FC236}">
                <a16:creationId xmlns:a16="http://schemas.microsoft.com/office/drawing/2014/main" id="{B1F1D18E-F202-5E59-C0AD-6D7CFB1602E4}"/>
              </a:ext>
            </a:extLst>
          </p:cNvPr>
          <p:cNvCxnSpPr>
            <a:stCxn id="23" idx="3"/>
            <a:endCxn id="31" idx="1"/>
          </p:cNvCxnSpPr>
          <p:nvPr/>
        </p:nvCxnSpPr>
        <p:spPr>
          <a:xfrm flipV="1">
            <a:off x="5058011" y="976000"/>
            <a:ext cx="1721244" cy="19178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185DA6A4-FFE1-55D3-6244-1705A948F224}"/>
              </a:ext>
            </a:extLst>
          </p:cNvPr>
          <p:cNvSpPr txBox="1"/>
          <p:nvPr/>
        </p:nvSpPr>
        <p:spPr>
          <a:xfrm>
            <a:off x="5646366" y="3769825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8208D5"/>
                </a:solidFill>
              </a:rPr>
              <a:t>PDLPR</a:t>
            </a:r>
            <a:endParaRPr lang="it-IT" dirty="0">
              <a:solidFill>
                <a:srgbClr val="8208D5"/>
              </a:solidFill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7482F1F-C8E2-AA46-2981-9AED53F99C91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How PDLPR works </a:t>
            </a:r>
            <a:endParaRPr lang="it-IT" dirty="0"/>
          </a:p>
        </p:txBody>
      </p:sp>
      <p:pic>
        <p:nvPicPr>
          <p:cNvPr id="15" name="Immagine 14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9F030AE7-6795-FF30-642F-3D72E87B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13" y="1322914"/>
            <a:ext cx="2675936" cy="2855943"/>
          </a:xfrm>
          <a:prstGeom prst="rect">
            <a:avLst/>
          </a:prstGeom>
        </p:spPr>
      </p:pic>
      <p:pic>
        <p:nvPicPr>
          <p:cNvPr id="17" name="Immagine 16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E543E1B1-6C70-9BEE-0214-045989581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852" y="1938113"/>
            <a:ext cx="1518964" cy="1401518"/>
          </a:xfrm>
          <a:prstGeom prst="rect">
            <a:avLst/>
          </a:prstGeom>
        </p:spPr>
      </p:pic>
      <p:pic>
        <p:nvPicPr>
          <p:cNvPr id="19" name="Immagine 18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06FFEAF-FD8F-EF85-6FA2-A4512A456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20" y="1168559"/>
            <a:ext cx="1958227" cy="2940627"/>
          </a:xfrm>
          <a:prstGeom prst="rect">
            <a:avLst/>
          </a:prstGeom>
        </p:spPr>
      </p:pic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F941C4E8-505E-ECCF-3BFA-C6551BEA1D7C}"/>
              </a:ext>
            </a:extLst>
          </p:cNvPr>
          <p:cNvSpPr/>
          <p:nvPr/>
        </p:nvSpPr>
        <p:spPr>
          <a:xfrm>
            <a:off x="3336053" y="2571750"/>
            <a:ext cx="366765" cy="221692"/>
          </a:xfrm>
          <a:prstGeom prst="rightArrow">
            <a:avLst/>
          </a:prstGeom>
          <a:solidFill>
            <a:srgbClr val="EEC14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5848A942-1D92-0799-4BF2-7B1B1655B430}"/>
              </a:ext>
            </a:extLst>
          </p:cNvPr>
          <p:cNvSpPr/>
          <p:nvPr/>
        </p:nvSpPr>
        <p:spPr>
          <a:xfrm>
            <a:off x="5591850" y="2571750"/>
            <a:ext cx="366765" cy="221692"/>
          </a:xfrm>
          <a:prstGeom prst="rightArrow">
            <a:avLst/>
          </a:prstGeom>
          <a:solidFill>
            <a:srgbClr val="EEC14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84D7962-A393-B67D-EDCC-D8DA5E1A0E68}"/>
              </a:ext>
            </a:extLst>
          </p:cNvPr>
          <p:cNvSpPr txBox="1"/>
          <p:nvPr/>
        </p:nvSpPr>
        <p:spPr>
          <a:xfrm>
            <a:off x="1400516" y="4178857"/>
            <a:ext cx="7745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IGFE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60AD7D2-D3CE-F2C7-A989-9EF34B53E017}"/>
              </a:ext>
            </a:extLst>
          </p:cNvPr>
          <p:cNvSpPr txBox="1"/>
          <p:nvPr/>
        </p:nvSpPr>
        <p:spPr>
          <a:xfrm>
            <a:off x="6705501" y="4109186"/>
            <a:ext cx="11975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Decoder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DE0A086-10F5-15D7-CDD3-AF4639889A5D}"/>
              </a:ext>
            </a:extLst>
          </p:cNvPr>
          <p:cNvSpPr txBox="1"/>
          <p:nvPr/>
        </p:nvSpPr>
        <p:spPr>
          <a:xfrm>
            <a:off x="4207712" y="3339631"/>
            <a:ext cx="11991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Encoder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F23D37E-451B-52BC-5068-344929BD49F9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43"/>
          <p:cNvSpPr txBox="1">
            <a:spLocks noGrp="1"/>
          </p:cNvSpPr>
          <p:nvPr>
            <p:ph type="title"/>
          </p:nvPr>
        </p:nvSpPr>
        <p:spPr>
          <a:xfrm>
            <a:off x="403477" y="183768"/>
            <a:ext cx="4168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ResNet18 Architecture Overview</a:t>
            </a:r>
            <a:endParaRPr sz="2400" dirty="0"/>
          </a:p>
        </p:txBody>
      </p:sp>
      <p:pic>
        <p:nvPicPr>
          <p:cNvPr id="20" name="Immagine 19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1F35FBBB-5A20-F889-9E51-0D0D944B6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83" y="1807550"/>
            <a:ext cx="1781175" cy="542925"/>
          </a:xfrm>
          <a:prstGeom prst="rect">
            <a:avLst/>
          </a:prstGeom>
        </p:spPr>
      </p:pic>
      <p:pic>
        <p:nvPicPr>
          <p:cNvPr id="21" name="Picture 10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38C4CB53-38EF-6986-7261-FEAC3C7BF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22" y="1664074"/>
            <a:ext cx="1295238" cy="208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42312779-EB00-C2B9-9F86-776AE77E9F40}"/>
              </a:ext>
            </a:extLst>
          </p:cNvPr>
          <p:cNvSpPr/>
          <p:nvPr/>
        </p:nvSpPr>
        <p:spPr>
          <a:xfrm>
            <a:off x="3264349" y="1937569"/>
            <a:ext cx="1831635" cy="1252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Google Shape;1671;p42">
            <a:extLst>
              <a:ext uri="{FF2B5EF4-FFF2-40B4-BE49-F238E27FC236}">
                <a16:creationId xmlns:a16="http://schemas.microsoft.com/office/drawing/2014/main" id="{1B614446-E104-E22B-6445-6F23582B2678}"/>
              </a:ext>
            </a:extLst>
          </p:cNvPr>
          <p:cNvSpPr txBox="1">
            <a:spLocks/>
          </p:cNvSpPr>
          <p:nvPr/>
        </p:nvSpPr>
        <p:spPr>
          <a:xfrm>
            <a:off x="3188995" y="2732994"/>
            <a:ext cx="1982343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Same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Convolutional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Architecture:</a:t>
            </a:r>
            <a:b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ResNet18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088199D-FF40-E870-B8E9-B0D92C65AD71}"/>
              </a:ext>
            </a:extLst>
          </p:cNvPr>
          <p:cNvSpPr/>
          <p:nvPr/>
        </p:nvSpPr>
        <p:spPr>
          <a:xfrm>
            <a:off x="6779255" y="533640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 Box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part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A77C74F-770E-3670-FD37-56B3D9A0DDE7}"/>
              </a:ext>
            </a:extLst>
          </p:cNvPr>
          <p:cNvSpPr/>
          <p:nvPr/>
        </p:nvSpPr>
        <p:spPr>
          <a:xfrm>
            <a:off x="6779255" y="2866163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OCR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linear part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7026DBB0-3932-59DF-6A34-AD4F13B3A12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455071" y="1418359"/>
            <a:ext cx="0" cy="370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5944C97-EC12-50A2-AA22-1408F2209D6E}"/>
              </a:ext>
            </a:extLst>
          </p:cNvPr>
          <p:cNvCxnSpPr>
            <a:cxnSpLocks/>
          </p:cNvCxnSpPr>
          <p:nvPr/>
        </p:nvCxnSpPr>
        <p:spPr>
          <a:xfrm flipH="1">
            <a:off x="7455069" y="3769825"/>
            <a:ext cx="1" cy="282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AF25FDC-F557-3E5B-08C6-2713FEAB3D28}"/>
              </a:ext>
            </a:extLst>
          </p:cNvPr>
          <p:cNvSpPr txBox="1"/>
          <p:nvPr/>
        </p:nvSpPr>
        <p:spPr>
          <a:xfrm>
            <a:off x="6877967" y="4114801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it-IT" b="1" dirty="0"/>
              <a:t> 皖</a:t>
            </a:r>
            <a:r>
              <a:rPr lang="it-IT" b="1" dirty="0"/>
              <a:t>AR0011</a:t>
            </a:r>
            <a:endParaRPr lang="it-IT" dirty="0"/>
          </a:p>
          <a:p>
            <a:br>
              <a:rPr lang="it-IT" dirty="0"/>
            </a:br>
            <a:endParaRPr lang="it-IT" dirty="0"/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7443DAFC-59B5-1EDC-EC6F-A3CD9E9037A4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373761" y="2563621"/>
            <a:ext cx="8905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1F09F92E-F21A-FE74-EF6F-B3AE29DB1D84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 flipV="1">
            <a:off x="5095984" y="976000"/>
            <a:ext cx="1683271" cy="1587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B4F73D3E-3D5D-46E4-EFEC-A230DC6A808E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>
            <a:off x="5095984" y="2563621"/>
            <a:ext cx="1683271" cy="7449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4C18B4DD-54D5-FE7E-EDE7-5817D169AFD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7455071" y="2350475"/>
            <a:ext cx="0" cy="515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1" name="Google Shape;2125;p54">
            <a:extLst>
              <a:ext uri="{FF2B5EF4-FFF2-40B4-BE49-F238E27FC236}">
                <a16:creationId xmlns:a16="http://schemas.microsoft.com/office/drawing/2014/main" id="{774D7A36-44E8-028E-C832-71899571CBDB}"/>
              </a:ext>
            </a:extLst>
          </p:cNvPr>
          <p:cNvSpPr txBox="1"/>
          <p:nvPr/>
        </p:nvSpPr>
        <p:spPr>
          <a:xfrm>
            <a:off x="5210712" y="756468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6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1" name="Google Shape;2125;p54">
            <a:extLst>
              <a:ext uri="{FF2B5EF4-FFF2-40B4-BE49-F238E27FC236}">
                <a16:creationId xmlns:a16="http://schemas.microsoft.com/office/drawing/2014/main" id="{03F8C205-14D2-A9E7-C4F8-F3F472EFAFD5}"/>
              </a:ext>
            </a:extLst>
          </p:cNvPr>
          <p:cNvSpPr txBox="1"/>
          <p:nvPr/>
        </p:nvSpPr>
        <p:spPr>
          <a:xfrm>
            <a:off x="5210712" y="294858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6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2" name="CasellaDiTesto 1741">
            <a:extLst>
              <a:ext uri="{FF2B5EF4-FFF2-40B4-BE49-F238E27FC236}">
                <a16:creationId xmlns:a16="http://schemas.microsoft.com/office/drawing/2014/main" id="{68DADE15-201F-265C-1CD2-31AADA88659B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3A15604-5C0C-3126-6471-F13D2BD242E3}"/>
              </a:ext>
            </a:extLst>
          </p:cNvPr>
          <p:cNvSpPr/>
          <p:nvPr/>
        </p:nvSpPr>
        <p:spPr>
          <a:xfrm>
            <a:off x="576263" y="574666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8F9538D-187A-9D2A-8D6D-AB514E3CC9E5}"/>
              </a:ext>
            </a:extLst>
          </p:cNvPr>
          <p:cNvSpPr/>
          <p:nvPr/>
        </p:nvSpPr>
        <p:spPr>
          <a:xfrm>
            <a:off x="679845" y="1585493"/>
            <a:ext cx="1088232" cy="4429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Dropout 0.4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6DEA118-63C5-AA23-F5CC-C88F7F4F6B42}"/>
              </a:ext>
            </a:extLst>
          </p:cNvPr>
          <p:cNvSpPr/>
          <p:nvPr/>
        </p:nvSpPr>
        <p:spPr>
          <a:xfrm>
            <a:off x="576263" y="2333127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125DE0F-58D3-9764-574E-6B2A29750AB3}"/>
              </a:ext>
            </a:extLst>
          </p:cNvPr>
          <p:cNvSpPr/>
          <p:nvPr/>
        </p:nvSpPr>
        <p:spPr>
          <a:xfrm>
            <a:off x="576263" y="4095095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cxnSp>
        <p:nvCxnSpPr>
          <p:cNvPr id="28" name="Connettore curvo 27">
            <a:extLst>
              <a:ext uri="{FF2B5EF4-FFF2-40B4-BE49-F238E27FC236}">
                <a16:creationId xmlns:a16="http://schemas.microsoft.com/office/drawing/2014/main" id="{3FD6B7CA-AF13-B717-3E84-3A4842DFB2EB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 flipV="1">
            <a:off x="1871663" y="3267299"/>
            <a:ext cx="773353" cy="1182602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EA3C2AE-FD9E-4643-C00C-1B42B475A34D}"/>
              </a:ext>
            </a:extLst>
          </p:cNvPr>
          <p:cNvSpPr txBox="1"/>
          <p:nvPr/>
        </p:nvSpPr>
        <p:spPr>
          <a:xfrm>
            <a:off x="2645016" y="3113410"/>
            <a:ext cx="889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7 heads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FBB4CF54-62C1-9688-087C-C95AFE2E0374}"/>
              </a:ext>
            </a:extLst>
          </p:cNvPr>
          <p:cNvSpPr/>
          <p:nvPr/>
        </p:nvSpPr>
        <p:spPr>
          <a:xfrm>
            <a:off x="3880963" y="1709755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58B5BFBC-E5F5-D4B0-CCBC-59D148F3F782}"/>
              </a:ext>
            </a:extLst>
          </p:cNvPr>
          <p:cNvSpPr/>
          <p:nvPr/>
        </p:nvSpPr>
        <p:spPr>
          <a:xfrm>
            <a:off x="5457876" y="1843104"/>
            <a:ext cx="1109164" cy="4429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Dropout 0.2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88112A41-2D8D-1081-E3CA-7C6153EE42FD}"/>
              </a:ext>
            </a:extLst>
          </p:cNvPr>
          <p:cNvSpPr/>
          <p:nvPr/>
        </p:nvSpPr>
        <p:spPr>
          <a:xfrm>
            <a:off x="6892120" y="1709755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cxnSp>
        <p:nvCxnSpPr>
          <p:cNvPr id="40" name="Connettore curvo 39">
            <a:extLst>
              <a:ext uri="{FF2B5EF4-FFF2-40B4-BE49-F238E27FC236}">
                <a16:creationId xmlns:a16="http://schemas.microsoft.com/office/drawing/2014/main" id="{E601817E-18E5-9C27-6040-ED9FCB0BC304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3534295" y="2064561"/>
            <a:ext cx="346668" cy="12027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4513C790-E33A-43D0-F8DD-7B8C4F3F8793}"/>
              </a:ext>
            </a:extLst>
          </p:cNvPr>
          <p:cNvSpPr/>
          <p:nvPr/>
        </p:nvSpPr>
        <p:spPr>
          <a:xfrm>
            <a:off x="3880963" y="4087865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B6EB9C3C-F856-7490-0D04-58AE91967AC5}"/>
              </a:ext>
            </a:extLst>
          </p:cNvPr>
          <p:cNvSpPr/>
          <p:nvPr/>
        </p:nvSpPr>
        <p:spPr>
          <a:xfrm>
            <a:off x="6892120" y="4084359"/>
            <a:ext cx="1295400" cy="709612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+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Relu</a:t>
            </a:r>
          </a:p>
        </p:txBody>
      </p:sp>
      <p:cxnSp>
        <p:nvCxnSpPr>
          <p:cNvPr id="62" name="Connettore curvo 61">
            <a:extLst>
              <a:ext uri="{FF2B5EF4-FFF2-40B4-BE49-F238E27FC236}">
                <a16:creationId xmlns:a16="http://schemas.microsoft.com/office/drawing/2014/main" id="{2A555033-39C0-F201-BB17-43CE6A8D0F8A}"/>
              </a:ext>
            </a:extLst>
          </p:cNvPr>
          <p:cNvCxnSpPr>
            <a:stCxn id="29" idx="3"/>
            <a:endCxn id="58" idx="1"/>
          </p:cNvCxnSpPr>
          <p:nvPr/>
        </p:nvCxnSpPr>
        <p:spPr>
          <a:xfrm>
            <a:off x="3534295" y="3267299"/>
            <a:ext cx="346668" cy="117537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DEB04FDA-BF03-D7CE-1804-DD31476875A0}"/>
              </a:ext>
            </a:extLst>
          </p:cNvPr>
          <p:cNvSpPr txBox="1"/>
          <p:nvPr/>
        </p:nvSpPr>
        <p:spPr>
          <a:xfrm>
            <a:off x="4242703" y="2714667"/>
            <a:ext cx="4772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92DE8513-85A2-1EFE-B984-353BC48E579B}"/>
              </a:ext>
            </a:extLst>
          </p:cNvPr>
          <p:cNvSpPr txBox="1"/>
          <p:nvPr/>
        </p:nvSpPr>
        <p:spPr>
          <a:xfrm>
            <a:off x="5935979" y="2714666"/>
            <a:ext cx="3210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FA87691C-8B59-FCCC-15F5-01D665D8FE58}"/>
              </a:ext>
            </a:extLst>
          </p:cNvPr>
          <p:cNvSpPr txBox="1"/>
          <p:nvPr/>
        </p:nvSpPr>
        <p:spPr>
          <a:xfrm>
            <a:off x="7442736" y="2714666"/>
            <a:ext cx="4772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l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68F6EA1F-B412-8EE9-EE8D-14D8474AE615}"/>
              </a:ext>
            </a:extLst>
          </p:cNvPr>
          <p:cNvSpPr/>
          <p:nvPr/>
        </p:nvSpPr>
        <p:spPr>
          <a:xfrm>
            <a:off x="679845" y="3323799"/>
            <a:ext cx="1088232" cy="4429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Dropout 0.3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ACB5A207-3A2C-B9AB-4E65-4C6D15776CEA}"/>
              </a:ext>
            </a:extLst>
          </p:cNvPr>
          <p:cNvSpPr/>
          <p:nvPr/>
        </p:nvSpPr>
        <p:spPr>
          <a:xfrm>
            <a:off x="5457876" y="4221214"/>
            <a:ext cx="1109164" cy="4429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Dropout 0.2</a:t>
            </a:r>
          </a:p>
        </p:txBody>
      </p: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00CB7BCF-9BF0-5B00-12C1-BCB6E473335B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flipH="1">
            <a:off x="1223961" y="1284278"/>
            <a:ext cx="2" cy="30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5217C58F-E27C-3B1D-A479-B88132C07062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1223961" y="2028406"/>
            <a:ext cx="2" cy="304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D2AD36FB-0EE5-AF74-253E-5C39393FA3A8}"/>
              </a:ext>
            </a:extLst>
          </p:cNvPr>
          <p:cNvCxnSpPr>
            <a:stCxn id="14" idx="2"/>
            <a:endCxn id="68" idx="0"/>
          </p:cNvCxnSpPr>
          <p:nvPr/>
        </p:nvCxnSpPr>
        <p:spPr>
          <a:xfrm flipH="1">
            <a:off x="1223961" y="3042739"/>
            <a:ext cx="2" cy="281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7C86E6A8-77A9-3EF5-4698-EBDD93ABD279}"/>
              </a:ext>
            </a:extLst>
          </p:cNvPr>
          <p:cNvCxnSpPr>
            <a:stCxn id="68" idx="2"/>
            <a:endCxn id="16" idx="0"/>
          </p:cNvCxnSpPr>
          <p:nvPr/>
        </p:nvCxnSpPr>
        <p:spPr>
          <a:xfrm>
            <a:off x="1223961" y="3766712"/>
            <a:ext cx="2" cy="32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E29BC673-6ACA-8B3B-CBA1-BB41CD687F7E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5176363" y="2064561"/>
            <a:ext cx="281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80">
            <a:extLst>
              <a:ext uri="{FF2B5EF4-FFF2-40B4-BE49-F238E27FC236}">
                <a16:creationId xmlns:a16="http://schemas.microsoft.com/office/drawing/2014/main" id="{5A9D74EC-BA59-1875-4AF3-871B238E8566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6567040" y="2064561"/>
            <a:ext cx="325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B893FD0C-0DB9-092D-1AEE-B06EAC7CC475}"/>
              </a:ext>
            </a:extLst>
          </p:cNvPr>
          <p:cNvCxnSpPr>
            <a:stCxn id="58" idx="3"/>
            <a:endCxn id="69" idx="1"/>
          </p:cNvCxnSpPr>
          <p:nvPr/>
        </p:nvCxnSpPr>
        <p:spPr>
          <a:xfrm>
            <a:off x="5176363" y="4442671"/>
            <a:ext cx="2815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2 87">
            <a:extLst>
              <a:ext uri="{FF2B5EF4-FFF2-40B4-BE49-F238E27FC236}">
                <a16:creationId xmlns:a16="http://schemas.microsoft.com/office/drawing/2014/main" id="{BF3B175B-6412-32E8-A435-ACEC6C9D8189}"/>
              </a:ext>
            </a:extLst>
          </p:cNvPr>
          <p:cNvCxnSpPr>
            <a:stCxn id="69" idx="3"/>
            <a:endCxn id="60" idx="1"/>
          </p:cNvCxnSpPr>
          <p:nvPr/>
        </p:nvCxnSpPr>
        <p:spPr>
          <a:xfrm flipV="1">
            <a:off x="6567040" y="4439165"/>
            <a:ext cx="325080" cy="3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6AFA387A-2253-293C-5194-BAAEDBC35703}"/>
              </a:ext>
            </a:extLst>
          </p:cNvPr>
          <p:cNvCxnSpPr>
            <a:endCxn id="11" idx="0"/>
          </p:cNvCxnSpPr>
          <p:nvPr/>
        </p:nvCxnSpPr>
        <p:spPr>
          <a:xfrm>
            <a:off x="1223961" y="190995"/>
            <a:ext cx="2" cy="383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sellaDiTesto 91">
            <a:extLst>
              <a:ext uri="{FF2B5EF4-FFF2-40B4-BE49-F238E27FC236}">
                <a16:creationId xmlns:a16="http://schemas.microsoft.com/office/drawing/2014/main" id="{E25B6A2C-31FB-04D3-9B07-77F9C9C503BA}"/>
              </a:ext>
            </a:extLst>
          </p:cNvPr>
          <p:cNvSpPr txBox="1"/>
          <p:nvPr/>
        </p:nvSpPr>
        <p:spPr>
          <a:xfrm>
            <a:off x="1223967" y="238339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512</a:t>
            </a: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6D931182-1C96-5D24-A4ED-EA95201BB51B}"/>
              </a:ext>
            </a:extLst>
          </p:cNvPr>
          <p:cNvSpPr txBox="1"/>
          <p:nvPr/>
        </p:nvSpPr>
        <p:spPr>
          <a:xfrm>
            <a:off x="1223967" y="1299667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1024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3C1DCABF-C8F1-83AF-EBDC-DFB90C698CA1}"/>
              </a:ext>
            </a:extLst>
          </p:cNvPr>
          <p:cNvSpPr txBox="1"/>
          <p:nvPr/>
        </p:nvSpPr>
        <p:spPr>
          <a:xfrm>
            <a:off x="1223967" y="2037233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1024</a:t>
            </a:r>
          </a:p>
        </p:txBody>
      </p:sp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A234F24C-5944-164A-7CC5-B95BFBD439AC}"/>
              </a:ext>
            </a:extLst>
          </p:cNvPr>
          <p:cNvSpPr txBox="1"/>
          <p:nvPr/>
        </p:nvSpPr>
        <p:spPr>
          <a:xfrm>
            <a:off x="1223961" y="3047076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512</a:t>
            </a: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80D52673-687E-FC08-F99B-67B0F5A1C128}"/>
              </a:ext>
            </a:extLst>
          </p:cNvPr>
          <p:cNvSpPr txBox="1"/>
          <p:nvPr/>
        </p:nvSpPr>
        <p:spPr>
          <a:xfrm>
            <a:off x="1211802" y="3813759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512</a:t>
            </a:r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95D5A1A0-52D5-49EE-E245-06D5073CBBDF}"/>
              </a:ext>
            </a:extLst>
          </p:cNvPr>
          <p:cNvSpPr txBox="1"/>
          <p:nvPr/>
        </p:nvSpPr>
        <p:spPr>
          <a:xfrm>
            <a:off x="3172555" y="2468524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256</a:t>
            </a:r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0580671C-71EE-1DFF-C589-96A4F91AF282}"/>
              </a:ext>
            </a:extLst>
          </p:cNvPr>
          <p:cNvSpPr txBox="1"/>
          <p:nvPr/>
        </p:nvSpPr>
        <p:spPr>
          <a:xfrm>
            <a:off x="3195036" y="3942963"/>
            <a:ext cx="64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256</a:t>
            </a:r>
          </a:p>
        </p:txBody>
      </p: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5646D90A-955F-FDE8-623C-27F4034AE6E3}"/>
              </a:ext>
            </a:extLst>
          </p:cNvPr>
          <p:cNvCxnSpPr>
            <a:stCxn id="34" idx="3"/>
          </p:cNvCxnSpPr>
          <p:nvPr/>
        </p:nvCxnSpPr>
        <p:spPr>
          <a:xfrm>
            <a:off x="8187520" y="2064561"/>
            <a:ext cx="313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E6D9D598-962E-6EC1-BECE-210593C78B0C}"/>
              </a:ext>
            </a:extLst>
          </p:cNvPr>
          <p:cNvCxnSpPr>
            <a:stCxn id="60" idx="3"/>
          </p:cNvCxnSpPr>
          <p:nvPr/>
        </p:nvCxnSpPr>
        <p:spPr>
          <a:xfrm>
            <a:off x="8187520" y="4439165"/>
            <a:ext cx="318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2DD97D63-7244-3FFA-188F-60D52793B4F1}"/>
              </a:ext>
            </a:extLst>
          </p:cNvPr>
          <p:cNvSpPr txBox="1"/>
          <p:nvPr/>
        </p:nvSpPr>
        <p:spPr>
          <a:xfrm>
            <a:off x="8496306" y="1926060"/>
            <a:ext cx="471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‘A’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B489F831-4538-D439-F3DA-7D53D6DCEDC7}"/>
              </a:ext>
            </a:extLst>
          </p:cNvPr>
          <p:cNvSpPr txBox="1"/>
          <p:nvPr/>
        </p:nvSpPr>
        <p:spPr>
          <a:xfrm>
            <a:off x="8496306" y="4300665"/>
            <a:ext cx="471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‘A’</a:t>
            </a:r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6E5E1503-A86F-D6FC-61B7-5BD583F7F985}"/>
              </a:ext>
            </a:extLst>
          </p:cNvPr>
          <p:cNvSpPr txBox="1"/>
          <p:nvPr/>
        </p:nvSpPr>
        <p:spPr>
          <a:xfrm>
            <a:off x="1838785" y="714028"/>
            <a:ext cx="889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200" i="1" dirty="0">
                <a:latin typeface="Poppins" panose="00000500000000000000" pitchFamily="2" charset="0"/>
                <a:cs typeface="Poppins" panose="00000500000000000000" pitchFamily="2" charset="0"/>
              </a:rPr>
              <a:t>Batch norm</a:t>
            </a:r>
          </a:p>
        </p:txBody>
      </p:sp>
      <p:sp>
        <p:nvSpPr>
          <p:cNvPr id="110" name="Google Shape;1745;p44">
            <a:extLst>
              <a:ext uri="{FF2B5EF4-FFF2-40B4-BE49-F238E27FC236}">
                <a16:creationId xmlns:a16="http://schemas.microsoft.com/office/drawing/2014/main" id="{507ED7D5-0AF2-EACD-1D6A-7C3B031CF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4463" y="423193"/>
            <a:ext cx="5533274" cy="424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Linear </a:t>
            </a:r>
            <a:r>
              <a:rPr lang="it-IT" dirty="0" err="1"/>
              <a:t>layer</a:t>
            </a:r>
            <a:r>
              <a:rPr lang="it-IT" dirty="0"/>
              <a:t> OCR/BB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16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/>
          <p:cNvSpPr txBox="1">
            <a:spLocks noGrp="1"/>
          </p:cNvSpPr>
          <p:nvPr>
            <p:ph type="title"/>
          </p:nvPr>
        </p:nvSpPr>
        <p:spPr>
          <a:xfrm>
            <a:off x="402705" y="374686"/>
            <a:ext cx="83385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CCPD (</a:t>
            </a:r>
            <a:r>
              <a:rPr lang="it-IT" dirty="0" err="1"/>
              <a:t>Chinese</a:t>
            </a:r>
            <a:r>
              <a:rPr lang="it-IT" dirty="0"/>
              <a:t> City Parking Dataset)</a:t>
            </a:r>
            <a:endParaRPr dirty="0"/>
          </a:p>
        </p:txBody>
      </p:sp>
      <p:sp>
        <p:nvSpPr>
          <p:cNvPr id="20" name="Google Shape;1532;p39">
            <a:extLst>
              <a:ext uri="{FF2B5EF4-FFF2-40B4-BE49-F238E27FC236}">
                <a16:creationId xmlns:a16="http://schemas.microsoft.com/office/drawing/2014/main" id="{7A0D386A-D938-D747-D32D-CEAE884C210E}"/>
              </a:ext>
            </a:extLst>
          </p:cNvPr>
          <p:cNvSpPr txBox="1">
            <a:spLocks/>
          </p:cNvSpPr>
          <p:nvPr/>
        </p:nvSpPr>
        <p:spPr>
          <a:xfrm>
            <a:off x="402705" y="1081611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large-scale,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publicly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available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dataset for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over </a:t>
            </a: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250,000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images of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with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annotated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it-IT" altLang="it-IT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Dataset </a:t>
            </a:r>
            <a:r>
              <a:rPr lang="it-IT" altLang="it-IT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Characteristics</a:t>
            </a: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it-IT" altLang="it-IT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Diverse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various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lighting,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weather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viewpoints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captured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-world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including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occlusion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blur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distortion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Annotations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include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boxes for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character-level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it-IT" altLang="it-IT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38" name="Elemento grafico 1737" descr="Cartella con riempimento a tinta unita">
            <a:extLst>
              <a:ext uri="{FF2B5EF4-FFF2-40B4-BE49-F238E27FC236}">
                <a16:creationId xmlns:a16="http://schemas.microsoft.com/office/drawing/2014/main" id="{23F9D096-6B26-ECC0-16BF-C8AA87A39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718" y="3234001"/>
            <a:ext cx="1205346" cy="1205346"/>
          </a:xfrm>
          <a:prstGeom prst="rect">
            <a:avLst/>
          </a:prstGeom>
        </p:spPr>
      </p:pic>
      <p:pic>
        <p:nvPicPr>
          <p:cNvPr id="1739" name="Elemento grafico 1738" descr="Cartella con riempimento a tinta unita">
            <a:extLst>
              <a:ext uri="{FF2B5EF4-FFF2-40B4-BE49-F238E27FC236}">
                <a16:creationId xmlns:a16="http://schemas.microsoft.com/office/drawing/2014/main" id="{60095267-7AA2-7641-F531-D0260EFBF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9849" y="3651614"/>
            <a:ext cx="1205346" cy="1205346"/>
          </a:xfrm>
          <a:prstGeom prst="rect">
            <a:avLst/>
          </a:prstGeom>
        </p:spPr>
      </p:pic>
      <p:pic>
        <p:nvPicPr>
          <p:cNvPr id="1740" name="Elemento grafico 1739" descr="Cartella con riempimento a tinta unita">
            <a:extLst>
              <a:ext uri="{FF2B5EF4-FFF2-40B4-BE49-F238E27FC236}">
                <a16:creationId xmlns:a16="http://schemas.microsoft.com/office/drawing/2014/main" id="{51657201-2140-6D26-2EF4-7E3DD7BF7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5" y="2657305"/>
            <a:ext cx="1205346" cy="1205346"/>
          </a:xfrm>
          <a:prstGeom prst="rect">
            <a:avLst/>
          </a:prstGeom>
        </p:spPr>
      </p:pic>
      <p:pic>
        <p:nvPicPr>
          <p:cNvPr id="1741" name="Elemento grafico 1740" descr="Cartella con riempimento a tinta unita">
            <a:extLst>
              <a:ext uri="{FF2B5EF4-FFF2-40B4-BE49-F238E27FC236}">
                <a16:creationId xmlns:a16="http://schemas.microsoft.com/office/drawing/2014/main" id="{0990F4CE-40FB-B3B7-F3B1-22EB9D9E9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419" y="2657305"/>
            <a:ext cx="1205346" cy="1205346"/>
          </a:xfrm>
          <a:prstGeom prst="rect">
            <a:avLst/>
          </a:prstGeom>
        </p:spPr>
      </p:pic>
      <p:pic>
        <p:nvPicPr>
          <p:cNvPr id="1742" name="Elemento grafico 1741" descr="Cartella con riempimento a tinta unita">
            <a:extLst>
              <a:ext uri="{FF2B5EF4-FFF2-40B4-BE49-F238E27FC236}">
                <a16:creationId xmlns:a16="http://schemas.microsoft.com/office/drawing/2014/main" id="{F489011D-5999-BE1A-87C4-039156977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9849" y="2657305"/>
            <a:ext cx="1205346" cy="1205346"/>
          </a:xfrm>
          <a:prstGeom prst="rect">
            <a:avLst/>
          </a:prstGeom>
        </p:spPr>
      </p:pic>
      <p:pic>
        <p:nvPicPr>
          <p:cNvPr id="1743" name="Elemento grafico 1742" descr="Cartella con riempimento a tinta unita">
            <a:extLst>
              <a:ext uri="{FF2B5EF4-FFF2-40B4-BE49-F238E27FC236}">
                <a16:creationId xmlns:a16="http://schemas.microsoft.com/office/drawing/2014/main" id="{812B0BCC-4A7F-EFEF-E45A-3B1805716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5" y="3651614"/>
            <a:ext cx="1205346" cy="1205346"/>
          </a:xfrm>
          <a:prstGeom prst="rect">
            <a:avLst/>
          </a:prstGeom>
        </p:spPr>
      </p:pic>
      <p:pic>
        <p:nvPicPr>
          <p:cNvPr id="1744" name="Elemento grafico 1743" descr="Cartella con riempimento a tinta unita">
            <a:extLst>
              <a:ext uri="{FF2B5EF4-FFF2-40B4-BE49-F238E27FC236}">
                <a16:creationId xmlns:a16="http://schemas.microsoft.com/office/drawing/2014/main" id="{1BD81307-7563-EE78-3F61-528120FB6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419" y="3651614"/>
            <a:ext cx="1205346" cy="1205346"/>
          </a:xfrm>
          <a:prstGeom prst="rect">
            <a:avLst/>
          </a:prstGeom>
        </p:spPr>
      </p:pic>
      <p:pic>
        <p:nvPicPr>
          <p:cNvPr id="1755" name="Elemento grafico 1754" descr="Cartella con riempimento a tinta unita">
            <a:extLst>
              <a:ext uri="{FF2B5EF4-FFF2-40B4-BE49-F238E27FC236}">
                <a16:creationId xmlns:a16="http://schemas.microsoft.com/office/drawing/2014/main" id="{647C9E35-9A00-0F1D-97D8-8505C1D9E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6111" y="3106090"/>
            <a:ext cx="1205346" cy="1205346"/>
          </a:xfrm>
          <a:prstGeom prst="rect">
            <a:avLst/>
          </a:prstGeom>
        </p:spPr>
      </p:pic>
      <p:sp>
        <p:nvSpPr>
          <p:cNvPr id="1756" name="CasellaDiTesto 1755">
            <a:extLst>
              <a:ext uri="{FF2B5EF4-FFF2-40B4-BE49-F238E27FC236}">
                <a16:creationId xmlns:a16="http://schemas.microsoft.com/office/drawing/2014/main" id="{A259E55D-8B62-A0E5-3DC7-661332C04818}"/>
              </a:ext>
            </a:extLst>
          </p:cNvPr>
          <p:cNvSpPr txBox="1"/>
          <p:nvPr/>
        </p:nvSpPr>
        <p:spPr>
          <a:xfrm>
            <a:off x="1246910" y="3736970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base</a:t>
            </a:r>
          </a:p>
        </p:txBody>
      </p:sp>
      <p:sp>
        <p:nvSpPr>
          <p:cNvPr id="1757" name="Segno di addizione 1756">
            <a:extLst>
              <a:ext uri="{FF2B5EF4-FFF2-40B4-BE49-F238E27FC236}">
                <a16:creationId xmlns:a16="http://schemas.microsoft.com/office/drawing/2014/main" id="{70D2B4F3-DB41-C2E5-F515-66FAA847E213}"/>
              </a:ext>
            </a:extLst>
          </p:cNvPr>
          <p:cNvSpPr/>
          <p:nvPr/>
        </p:nvSpPr>
        <p:spPr>
          <a:xfrm>
            <a:off x="2244435" y="3651614"/>
            <a:ext cx="315189" cy="2917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58" name="CasellaDiTesto 1757">
            <a:extLst>
              <a:ext uri="{FF2B5EF4-FFF2-40B4-BE49-F238E27FC236}">
                <a16:creationId xmlns:a16="http://schemas.microsoft.com/office/drawing/2014/main" id="{98AF34D1-838B-6DA2-4B15-1CD94FC4A595}"/>
              </a:ext>
            </a:extLst>
          </p:cNvPr>
          <p:cNvSpPr txBox="1"/>
          <p:nvPr/>
        </p:nvSpPr>
        <p:spPr>
          <a:xfrm>
            <a:off x="2998647" y="3150323"/>
            <a:ext cx="663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tilt</a:t>
            </a:r>
          </a:p>
        </p:txBody>
      </p:sp>
      <p:sp>
        <p:nvSpPr>
          <p:cNvPr id="1759" name="CasellaDiTesto 1758">
            <a:extLst>
              <a:ext uri="{FF2B5EF4-FFF2-40B4-BE49-F238E27FC236}">
                <a16:creationId xmlns:a16="http://schemas.microsoft.com/office/drawing/2014/main" id="{AAA1FB00-751D-9D45-F75F-24ECEEFC6BAF}"/>
              </a:ext>
            </a:extLst>
          </p:cNvPr>
          <p:cNvSpPr txBox="1"/>
          <p:nvPr/>
        </p:nvSpPr>
        <p:spPr>
          <a:xfrm>
            <a:off x="2962275" y="4115786"/>
            <a:ext cx="585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blur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0" name="CasellaDiTesto 1759">
            <a:extLst>
              <a:ext uri="{FF2B5EF4-FFF2-40B4-BE49-F238E27FC236}">
                <a16:creationId xmlns:a16="http://schemas.microsoft.com/office/drawing/2014/main" id="{0E926ECC-6B32-9528-741B-01E1B82A6DED}"/>
              </a:ext>
            </a:extLst>
          </p:cNvPr>
          <p:cNvSpPr txBox="1"/>
          <p:nvPr/>
        </p:nvSpPr>
        <p:spPr>
          <a:xfrm>
            <a:off x="4000505" y="3144189"/>
            <a:ext cx="1120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challenge</a:t>
            </a:r>
          </a:p>
        </p:txBody>
      </p:sp>
      <p:sp>
        <p:nvSpPr>
          <p:cNvPr id="1761" name="CasellaDiTesto 1760">
            <a:extLst>
              <a:ext uri="{FF2B5EF4-FFF2-40B4-BE49-F238E27FC236}">
                <a16:creationId xmlns:a16="http://schemas.microsoft.com/office/drawing/2014/main" id="{51EE0958-60EE-886B-0BD8-F91380AD88FB}"/>
              </a:ext>
            </a:extLst>
          </p:cNvPr>
          <p:cNvSpPr txBox="1"/>
          <p:nvPr/>
        </p:nvSpPr>
        <p:spPr>
          <a:xfrm>
            <a:off x="4054187" y="4109649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fn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2" name="CasellaDiTesto 1761">
            <a:extLst>
              <a:ext uri="{FF2B5EF4-FFF2-40B4-BE49-F238E27FC236}">
                <a16:creationId xmlns:a16="http://schemas.microsoft.com/office/drawing/2014/main" id="{05F97E08-5621-FE23-6055-1A155FF069DE}"/>
              </a:ext>
            </a:extLst>
          </p:cNvPr>
          <p:cNvSpPr txBox="1"/>
          <p:nvPr/>
        </p:nvSpPr>
        <p:spPr>
          <a:xfrm>
            <a:off x="5256075" y="3144188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db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3" name="CasellaDiTesto 1762">
            <a:extLst>
              <a:ext uri="{FF2B5EF4-FFF2-40B4-BE49-F238E27FC236}">
                <a16:creationId xmlns:a16="http://schemas.microsoft.com/office/drawing/2014/main" id="{CE93C434-C855-5788-06BB-F815655059CB}"/>
              </a:ext>
            </a:extLst>
          </p:cNvPr>
          <p:cNvSpPr txBox="1"/>
          <p:nvPr/>
        </p:nvSpPr>
        <p:spPr>
          <a:xfrm>
            <a:off x="5284646" y="4109648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weather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4" name="CasellaDiTesto 1763">
            <a:extLst>
              <a:ext uri="{FF2B5EF4-FFF2-40B4-BE49-F238E27FC236}">
                <a16:creationId xmlns:a16="http://schemas.microsoft.com/office/drawing/2014/main" id="{CF3EB1CA-1395-6190-CE0A-16DDD82C20EE}"/>
              </a:ext>
            </a:extLst>
          </p:cNvPr>
          <p:cNvSpPr txBox="1"/>
          <p:nvPr/>
        </p:nvSpPr>
        <p:spPr>
          <a:xfrm>
            <a:off x="6567054" y="3598470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rotate</a:t>
            </a:r>
          </a:p>
        </p:txBody>
      </p:sp>
      <p:sp>
        <p:nvSpPr>
          <p:cNvPr id="1765" name="CasellaDiTesto 1764">
            <a:extLst>
              <a:ext uri="{FF2B5EF4-FFF2-40B4-BE49-F238E27FC236}">
                <a16:creationId xmlns:a16="http://schemas.microsoft.com/office/drawing/2014/main" id="{ECE65639-4253-DEDC-DC2D-FEC9335282D0}"/>
              </a:ext>
            </a:extLst>
          </p:cNvPr>
          <p:cNvSpPr txBox="1"/>
          <p:nvPr/>
        </p:nvSpPr>
        <p:spPr>
          <a:xfrm>
            <a:off x="695305" y="4215486"/>
            <a:ext cx="167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latin typeface="Poppins" panose="00000500000000000000" pitchFamily="2" charset="0"/>
                <a:cs typeface="Poppins" panose="00000500000000000000" pitchFamily="2" charset="0"/>
              </a:rPr>
              <a:t>Train: 160.000</a:t>
            </a:r>
          </a:p>
          <a:p>
            <a:pPr algn="ctr"/>
            <a:r>
              <a:rPr lang="it-IT" sz="1200" b="1" dirty="0">
                <a:latin typeface="Poppins" panose="00000500000000000000" pitchFamily="2" charset="0"/>
                <a:cs typeface="Poppins" panose="00000500000000000000" pitchFamily="2" charset="0"/>
              </a:rPr>
              <a:t>Val: 40.000</a:t>
            </a:r>
          </a:p>
        </p:txBody>
      </p:sp>
      <p:sp>
        <p:nvSpPr>
          <p:cNvPr id="1766" name="CasellaDiTesto 1765">
            <a:extLst>
              <a:ext uri="{FF2B5EF4-FFF2-40B4-BE49-F238E27FC236}">
                <a16:creationId xmlns:a16="http://schemas.microsoft.com/office/drawing/2014/main" id="{70EFD5DD-7742-1A9F-F0A3-025D0C4C7967}"/>
              </a:ext>
            </a:extLst>
          </p:cNvPr>
          <p:cNvSpPr txBox="1"/>
          <p:nvPr/>
        </p:nvSpPr>
        <p:spPr>
          <a:xfrm>
            <a:off x="6619876" y="4321535"/>
            <a:ext cx="602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Test</a:t>
            </a:r>
          </a:p>
        </p:txBody>
      </p:sp>
      <p:sp>
        <p:nvSpPr>
          <p:cNvPr id="1767" name="CasellaDiTesto 1766">
            <a:extLst>
              <a:ext uri="{FF2B5EF4-FFF2-40B4-BE49-F238E27FC236}">
                <a16:creationId xmlns:a16="http://schemas.microsoft.com/office/drawing/2014/main" id="{5774851F-B13B-8304-4DED-03FE8363152C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45"/>
          <p:cNvSpPr txBox="1">
            <a:spLocks noGrp="1"/>
          </p:cNvSpPr>
          <p:nvPr>
            <p:ph type="subTitle" idx="13"/>
          </p:nvPr>
        </p:nvSpPr>
        <p:spPr>
          <a:xfrm>
            <a:off x="3343346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blur</a:t>
            </a:r>
            <a:endParaRPr dirty="0"/>
          </a:p>
        </p:txBody>
      </p:sp>
      <p:sp>
        <p:nvSpPr>
          <p:cNvPr id="1762" name="Google Shape;1762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of possible car plates</a:t>
            </a:r>
            <a:endParaRPr dirty="0"/>
          </a:p>
        </p:txBody>
      </p:sp>
      <p:sp>
        <p:nvSpPr>
          <p:cNvPr id="1763" name="Google Shape;1763;p45"/>
          <p:cNvSpPr txBox="1">
            <a:spLocks noGrp="1"/>
          </p:cNvSpPr>
          <p:nvPr>
            <p:ph type="subTitle" idx="7"/>
          </p:nvPr>
        </p:nvSpPr>
        <p:spPr>
          <a:xfrm>
            <a:off x="720000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fn</a:t>
            </a:r>
            <a:endParaRPr dirty="0"/>
          </a:p>
        </p:txBody>
      </p:sp>
      <p:sp>
        <p:nvSpPr>
          <p:cNvPr id="1764" name="Google Shape;1764;p45"/>
          <p:cNvSpPr txBox="1">
            <a:spLocks noGrp="1"/>
          </p:cNvSpPr>
          <p:nvPr>
            <p:ph type="subTitle" idx="8"/>
          </p:nvPr>
        </p:nvSpPr>
        <p:spPr>
          <a:xfrm>
            <a:off x="3343346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</a:t>
            </a:r>
            <a:endParaRPr dirty="0"/>
          </a:p>
        </p:txBody>
      </p:sp>
      <p:sp>
        <p:nvSpPr>
          <p:cNvPr id="1769" name="Google Shape;1769;p45"/>
          <p:cNvSpPr txBox="1">
            <a:spLocks noGrp="1"/>
          </p:cNvSpPr>
          <p:nvPr>
            <p:ph type="subTitle" idx="9"/>
          </p:nvPr>
        </p:nvSpPr>
        <p:spPr>
          <a:xfrm>
            <a:off x="720000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rotate</a:t>
            </a:r>
            <a:endParaRPr dirty="0"/>
          </a:p>
        </p:txBody>
      </p:sp>
      <p:sp>
        <p:nvSpPr>
          <p:cNvPr id="1770" name="Google Shape;1770;p45"/>
          <p:cNvSpPr txBox="1">
            <a:spLocks noGrp="1"/>
          </p:cNvSpPr>
          <p:nvPr>
            <p:ph type="subTitle" idx="14"/>
          </p:nvPr>
        </p:nvSpPr>
        <p:spPr>
          <a:xfrm>
            <a:off x="6219752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tilt</a:t>
            </a:r>
            <a:endParaRPr dirty="0"/>
          </a:p>
        </p:txBody>
      </p:sp>
      <p:sp>
        <p:nvSpPr>
          <p:cNvPr id="1771" name="Google Shape;1771;p45"/>
          <p:cNvSpPr txBox="1">
            <a:spLocks noGrp="1"/>
          </p:cNvSpPr>
          <p:nvPr>
            <p:ph type="subTitle" idx="15"/>
          </p:nvPr>
        </p:nvSpPr>
        <p:spPr>
          <a:xfrm>
            <a:off x="6219752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weather</a:t>
            </a:r>
            <a:endParaRPr dirty="0"/>
          </a:p>
        </p:txBody>
      </p:sp>
      <p:pic>
        <p:nvPicPr>
          <p:cNvPr id="15" name="Immagine 14" descr="Immagine che contiene testo, Targa di veicolo, targa, numero&#10;&#10;Il contenuto generato dall'IA potrebbe non essere corretto.">
            <a:extLst>
              <a:ext uri="{FF2B5EF4-FFF2-40B4-BE49-F238E27FC236}">
                <a16:creationId xmlns:a16="http://schemas.microsoft.com/office/drawing/2014/main" id="{24949252-0369-EA33-B74D-02039EB3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0" y="1818186"/>
            <a:ext cx="1764657" cy="1025499"/>
          </a:xfrm>
          <a:prstGeom prst="rect">
            <a:avLst/>
          </a:prstGeom>
        </p:spPr>
      </p:pic>
      <p:pic>
        <p:nvPicPr>
          <p:cNvPr id="17" name="Immagine 16" descr="Immagine che contiene testo, Carattere, Neon, Segnali luminosi&#10;&#10;Il contenuto generato dall'IA potrebbe non essere corretto.">
            <a:extLst>
              <a:ext uri="{FF2B5EF4-FFF2-40B4-BE49-F238E27FC236}">
                <a16:creationId xmlns:a16="http://schemas.microsoft.com/office/drawing/2014/main" id="{37B355D8-06BD-D45E-A8B2-046BAD73F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554" y="1818186"/>
            <a:ext cx="1950892" cy="1025499"/>
          </a:xfrm>
          <a:prstGeom prst="rect">
            <a:avLst/>
          </a:prstGeom>
        </p:spPr>
      </p:pic>
      <p:pic>
        <p:nvPicPr>
          <p:cNvPr id="19" name="Immagine 18" descr="Immagine che contiene testo, Targa di veicolo, targa, segnaletica&#10;&#10;Il contenuto generato dall'IA potrebbe non essere corretto.">
            <a:extLst>
              <a:ext uri="{FF2B5EF4-FFF2-40B4-BE49-F238E27FC236}">
                <a16:creationId xmlns:a16="http://schemas.microsoft.com/office/drawing/2014/main" id="{C8B1B0AE-90B5-2546-D61C-05EAA2BCD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220" y="3563634"/>
            <a:ext cx="1764657" cy="971686"/>
          </a:xfrm>
          <a:prstGeom prst="rect">
            <a:avLst/>
          </a:prstGeom>
        </p:spPr>
      </p:pic>
      <p:pic>
        <p:nvPicPr>
          <p:cNvPr id="21" name="Immagine 20" descr="Immagine che contiene orologio, testo&#10;&#10;Il contenuto generato dall'IA potrebbe non essere corretto.">
            <a:extLst>
              <a:ext uri="{FF2B5EF4-FFF2-40B4-BE49-F238E27FC236}">
                <a16:creationId xmlns:a16="http://schemas.microsoft.com/office/drawing/2014/main" id="{E9F2BE16-EBE1-2FB6-C9FC-287226FB6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6554" y="3563634"/>
            <a:ext cx="1950892" cy="971686"/>
          </a:xfrm>
          <a:prstGeom prst="rect">
            <a:avLst/>
          </a:prstGeom>
        </p:spPr>
      </p:pic>
      <p:pic>
        <p:nvPicPr>
          <p:cNvPr id="23" name="Immagine 22" descr="Immagine che contiene test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D3FE5E4-0898-0EFC-FDEC-BC5203167F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752" y="3563633"/>
            <a:ext cx="1837208" cy="971685"/>
          </a:xfrm>
          <a:prstGeom prst="rect">
            <a:avLst/>
          </a:prstGeom>
        </p:spPr>
      </p:pic>
      <p:pic>
        <p:nvPicPr>
          <p:cNvPr id="25" name="Immagine 24" descr="Immagine che contiene testo, verde&#10;&#10;Il contenuto generato dall'IA potrebbe non essere corretto.">
            <a:extLst>
              <a:ext uri="{FF2B5EF4-FFF2-40B4-BE49-F238E27FC236}">
                <a16:creationId xmlns:a16="http://schemas.microsoft.com/office/drawing/2014/main" id="{16EDD03F-50B1-43F3-33C8-88B67F31C3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746" y="1818186"/>
            <a:ext cx="1837214" cy="1025499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739E3D1-A923-C6C6-730B-9448099EB9C8}"/>
              </a:ext>
            </a:extLst>
          </p:cNvPr>
          <p:cNvSpPr txBox="1"/>
          <p:nvPr/>
        </p:nvSpPr>
        <p:spPr>
          <a:xfrm>
            <a:off x="8424000" y="4698475"/>
            <a:ext cx="607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/>
          <p:cNvSpPr txBox="1">
            <a:spLocks noGrp="1"/>
          </p:cNvSpPr>
          <p:nvPr>
            <p:ph type="title"/>
          </p:nvPr>
        </p:nvSpPr>
        <p:spPr>
          <a:xfrm>
            <a:off x="635233" y="272061"/>
            <a:ext cx="7140723" cy="7152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The </a:t>
            </a:r>
            <a:r>
              <a:rPr lang="it-IT" dirty="0" err="1"/>
              <a:t>Experimental</a:t>
            </a:r>
            <a:r>
              <a:rPr lang="it-IT" dirty="0"/>
              <a:t> setup (1)</a:t>
            </a:r>
            <a:endParaRPr dirty="0"/>
          </a:p>
        </p:txBody>
      </p:sp>
      <p:grpSp>
        <p:nvGrpSpPr>
          <p:cNvPr id="1843" name="Google Shape;1843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3D7E163-AB10-67C8-799F-983EAC7E0D3F}"/>
              </a:ext>
            </a:extLst>
          </p:cNvPr>
          <p:cNvSpPr/>
          <p:nvPr/>
        </p:nvSpPr>
        <p:spPr>
          <a:xfrm>
            <a:off x="635233" y="1482357"/>
            <a:ext cx="3649931" cy="14287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Loss function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GIoU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Optimizer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Adam, with LR: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Batch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Epochs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15 </a:t>
            </a:r>
          </a:p>
          <a:p>
            <a:br>
              <a:rPr lang="en-US" dirty="0"/>
            </a:b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1CCF9DC-5E30-D85E-8B53-E89B35312282}"/>
              </a:ext>
            </a:extLst>
          </p:cNvPr>
          <p:cNvSpPr txBox="1"/>
          <p:nvPr/>
        </p:nvSpPr>
        <p:spPr>
          <a:xfrm>
            <a:off x="1963757" y="1219493"/>
            <a:ext cx="1002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Yolov5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3641D4-7571-84E5-DD1A-05929BB935CB}"/>
              </a:ext>
            </a:extLst>
          </p:cNvPr>
          <p:cNvSpPr txBox="1"/>
          <p:nvPr/>
        </p:nvSpPr>
        <p:spPr>
          <a:xfrm>
            <a:off x="6247722" y="1194955"/>
            <a:ext cx="841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PDLPR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8AEAADF1-B76D-5DC6-7885-FAB73273F3E3}"/>
                  </a:ext>
                </a:extLst>
              </p:cNvPr>
              <p:cNvSpPr/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128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50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8AEAADF1-B76D-5DC6-7885-FAB73273F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7A269F7E-9E27-C9C5-6ACA-80A88AAF3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017" y="3406198"/>
            <a:ext cx="2165691" cy="33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A0DAC5E-8AA3-5401-FC71-6ED19AB8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15" y="3696794"/>
            <a:ext cx="1608960" cy="48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magine 11" descr="Immagine che contiene Carattere, bianco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8B11CF78-46DE-2D9C-82DD-01407BFB4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294" y="3490977"/>
            <a:ext cx="2270658" cy="61343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1003805-BEA6-4980-3054-FC964228B8C3}"/>
              </a:ext>
            </a:extLst>
          </p:cNvPr>
          <p:cNvSpPr txBox="1"/>
          <p:nvPr/>
        </p:nvSpPr>
        <p:spPr>
          <a:xfrm>
            <a:off x="8375073" y="4698475"/>
            <a:ext cx="656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>
          <a:extLst>
            <a:ext uri="{FF2B5EF4-FFF2-40B4-BE49-F238E27FC236}">
              <a16:creationId xmlns:a16="http://schemas.microsoft.com/office/drawing/2014/main" id="{E788EBC0-1C74-860F-D016-DEDDB477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>
            <a:extLst>
              <a:ext uri="{FF2B5EF4-FFF2-40B4-BE49-F238E27FC236}">
                <a16:creationId xmlns:a16="http://schemas.microsoft.com/office/drawing/2014/main" id="{1D51499C-3E04-158C-994B-B63A8B7D4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233" y="272061"/>
            <a:ext cx="7140723" cy="7152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The </a:t>
            </a:r>
            <a:r>
              <a:rPr lang="it-IT" dirty="0" err="1"/>
              <a:t>Experimental</a:t>
            </a:r>
            <a:r>
              <a:rPr lang="it-IT" dirty="0"/>
              <a:t> setup (2)</a:t>
            </a:r>
            <a:endParaRPr dirty="0"/>
          </a:p>
        </p:txBody>
      </p:sp>
      <p:grpSp>
        <p:nvGrpSpPr>
          <p:cNvPr id="1843" name="Google Shape;1843;p46">
            <a:extLst>
              <a:ext uri="{FF2B5EF4-FFF2-40B4-BE49-F238E27FC236}">
                <a16:creationId xmlns:a16="http://schemas.microsoft.com/office/drawing/2014/main" id="{5A361754-900A-5025-A5AB-F1960DA4DE20}"/>
              </a:ext>
            </a:extLst>
          </p:cNvPr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>
              <a:extLst>
                <a:ext uri="{FF2B5EF4-FFF2-40B4-BE49-F238E27FC236}">
                  <a16:creationId xmlns:a16="http://schemas.microsoft.com/office/drawing/2014/main" id="{99ED3732-15B0-1B58-05B0-F38FE63193AD}"/>
                </a:ext>
              </a:extLst>
            </p:cNvPr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>
              <a:extLst>
                <a:ext uri="{FF2B5EF4-FFF2-40B4-BE49-F238E27FC236}">
                  <a16:creationId xmlns:a16="http://schemas.microsoft.com/office/drawing/2014/main" id="{C41D19C3-E5D7-FF57-67D5-55091BAD5CBA}"/>
                </a:ext>
              </a:extLst>
            </p:cNvPr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>
              <a:extLst>
                <a:ext uri="{FF2B5EF4-FFF2-40B4-BE49-F238E27FC236}">
                  <a16:creationId xmlns:a16="http://schemas.microsoft.com/office/drawing/2014/main" id="{EE97B49E-5521-7DBB-8441-51AE6FC379CD}"/>
                </a:ext>
              </a:extLst>
            </p:cNvPr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>
              <a:extLst>
                <a:ext uri="{FF2B5EF4-FFF2-40B4-BE49-F238E27FC236}">
                  <a16:creationId xmlns:a16="http://schemas.microsoft.com/office/drawing/2014/main" id="{1CF11FD1-FB15-1EAE-DF0F-F92AF9D62439}"/>
                </a:ext>
              </a:extLst>
            </p:cNvPr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>
              <a:extLst>
                <a:ext uri="{FF2B5EF4-FFF2-40B4-BE49-F238E27FC236}">
                  <a16:creationId xmlns:a16="http://schemas.microsoft.com/office/drawing/2014/main" id="{988B7A55-BD5F-B812-4C0E-ED7BEB1C45B6}"/>
                </a:ext>
              </a:extLst>
            </p:cNvPr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>
              <a:extLst>
                <a:ext uri="{FF2B5EF4-FFF2-40B4-BE49-F238E27FC236}">
                  <a16:creationId xmlns:a16="http://schemas.microsoft.com/office/drawing/2014/main" id="{D20CDF1A-12D7-5690-0C6A-49EA86CE55E1}"/>
                </a:ext>
              </a:extLst>
            </p:cNvPr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>
              <a:extLst>
                <a:ext uri="{FF2B5EF4-FFF2-40B4-BE49-F238E27FC236}">
                  <a16:creationId xmlns:a16="http://schemas.microsoft.com/office/drawing/2014/main" id="{5216E027-0A76-7329-1712-86241717A9F5}"/>
                </a:ext>
              </a:extLst>
            </p:cNvPr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8DF56CD3-C483-66B3-AAC1-156E16892C96}"/>
                  </a:ext>
                </a:extLst>
              </p:cNvPr>
              <p:cNvSpPr/>
              <p:nvPr/>
            </p:nvSpPr>
            <p:spPr>
              <a:xfrm>
                <a:off x="635233" y="1482357"/>
                <a:ext cx="3649931" cy="1428750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Mean Squared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50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30 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8DF56CD3-C483-66B3-AAC1-156E16892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33" y="1482357"/>
                <a:ext cx="3649931" cy="14287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3B7D3F-413B-BE26-6CFC-FE2284FCDDDB}"/>
              </a:ext>
            </a:extLst>
          </p:cNvPr>
          <p:cNvSpPr txBox="1"/>
          <p:nvPr/>
        </p:nvSpPr>
        <p:spPr>
          <a:xfrm>
            <a:off x="1351864" y="1194955"/>
            <a:ext cx="2497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RN18 </a:t>
            </a:r>
            <a:r>
              <a:rPr lang="it-IT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 Box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1262D05-ADA5-AE5F-865B-96E8C3331699}"/>
              </a:ext>
            </a:extLst>
          </p:cNvPr>
          <p:cNvSpPr txBox="1"/>
          <p:nvPr/>
        </p:nvSpPr>
        <p:spPr>
          <a:xfrm>
            <a:off x="6054809" y="1194955"/>
            <a:ext cx="1263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RN18 OCR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A97B42E3-E4F8-AC10-1C14-ED70B7E56D90}"/>
                  </a:ext>
                </a:extLst>
              </p:cNvPr>
              <p:cNvSpPr/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weight decay: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5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128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30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A97B42E3-E4F8-AC10-1C14-ED70B7E56D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Carattere, bianco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8F3045B3-FA6D-552F-F0C5-69C472F00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293" y="3457438"/>
            <a:ext cx="2270658" cy="613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6DF54DE-F743-219C-C581-822672F85015}"/>
                  </a:ext>
                </a:extLst>
              </p:cNvPr>
              <p:cNvSpPr txBox="1"/>
              <p:nvPr/>
            </p:nvSpPr>
            <p:spPr>
              <a:xfrm>
                <a:off x="1074024" y="3457438"/>
                <a:ext cx="3052796" cy="680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6DF54DE-F743-219C-C581-822672F85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24" y="3457438"/>
                <a:ext cx="3052796" cy="6805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141490-413E-38ED-5AC9-CB7909F5F7F5}"/>
              </a:ext>
            </a:extLst>
          </p:cNvPr>
          <p:cNvSpPr txBox="1"/>
          <p:nvPr/>
        </p:nvSpPr>
        <p:spPr>
          <a:xfrm>
            <a:off x="8424000" y="4698475"/>
            <a:ext cx="607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18122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Yolov5 and RN18 BB results</a:t>
            </a:r>
            <a:endParaRPr sz="2800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0302667-A69F-2230-D793-7B3BF3AF6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28516"/>
              </p:ext>
            </p:extLst>
          </p:nvPr>
        </p:nvGraphicFramePr>
        <p:xfrm>
          <a:off x="1524000" y="1345842"/>
          <a:ext cx="6096000" cy="3337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055627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18839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5913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Yolov5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RN18 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459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88.7%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3783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80.1%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190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87,7%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82.1%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6194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76.2%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0234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75.8%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84022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84.3%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4478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87,2%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82.4%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8163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86.2%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57554819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924F5B-D0C4-E8B8-B0CE-BD30167D46AC}"/>
              </a:ext>
            </a:extLst>
          </p:cNvPr>
          <p:cNvSpPr txBox="1"/>
          <p:nvPr/>
        </p:nvSpPr>
        <p:spPr>
          <a:xfrm>
            <a:off x="1524000" y="1075174"/>
            <a:ext cx="2185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Poppins" panose="00000500000000000000" pitchFamily="2" charset="0"/>
                <a:cs typeface="Poppins" panose="00000500000000000000" pitchFamily="2" charset="0"/>
              </a:rPr>
              <a:t>IoU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 &gt; 0.70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B8DDDB-F06B-FA1B-21DE-001E3B2AF169}"/>
              </a:ext>
            </a:extLst>
          </p:cNvPr>
          <p:cNvSpPr txBox="1"/>
          <p:nvPr/>
        </p:nvSpPr>
        <p:spPr>
          <a:xfrm>
            <a:off x="8385349" y="4698475"/>
            <a:ext cx="646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>
          <a:extLst>
            <a:ext uri="{FF2B5EF4-FFF2-40B4-BE49-F238E27FC236}">
              <a16:creationId xmlns:a16="http://schemas.microsoft.com/office/drawing/2014/main" id="{9D30D14E-CA85-C3F0-3068-327AACB6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>
            <a:extLst>
              <a:ext uri="{FF2B5EF4-FFF2-40B4-BE49-F238E27FC236}">
                <a16:creationId xmlns:a16="http://schemas.microsoft.com/office/drawing/2014/main" id="{6A20907C-FF0D-5541-2066-211560A95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RN18 OCR results</a:t>
            </a:r>
            <a:endParaRPr sz="2800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57EE7AE-E9EB-8A7F-CBB2-F26AE94EE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70476"/>
              </p:ext>
            </p:extLst>
          </p:nvPr>
        </p:nvGraphicFramePr>
        <p:xfrm>
          <a:off x="321547" y="1318497"/>
          <a:ext cx="8531050" cy="32082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3105">
                  <a:extLst>
                    <a:ext uri="{9D8B030D-6E8A-4147-A177-3AD203B41FA5}">
                      <a16:colId xmlns:a16="http://schemas.microsoft.com/office/drawing/2014/main" val="2971400418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055012077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62012048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139741373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47432201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841330371"/>
                    </a:ext>
                  </a:extLst>
                </a:gridCol>
                <a:gridCol w="826979">
                  <a:extLst>
                    <a:ext uri="{9D8B030D-6E8A-4147-A177-3AD203B41FA5}">
                      <a16:colId xmlns:a16="http://schemas.microsoft.com/office/drawing/2014/main" val="120667152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837845095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122859191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359995384"/>
                    </a:ext>
                  </a:extLst>
                </a:gridCol>
              </a:tblGrid>
              <a:tr h="3915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it-IT" sz="1200" b="1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8716341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samples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40000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30216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20611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10053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50003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20967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10132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9999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150K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7365037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avg loss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0.3216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0.1204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0.1077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0.0700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0.0734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0.0859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0.1089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0.0040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0.1115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5262040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acc/char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99.45%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88.65%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95.44%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96.14%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94.64%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93.94%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93.28%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98.60%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95.14%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5871040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plate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98.86%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75.39%  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79.45%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84.12%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78.49%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77.51%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76.41%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97.40%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83.03%</a:t>
                      </a:r>
                      <a:endParaRPr lang="it-IT" sz="120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2655538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F6E60A-98B2-B403-EEB8-EF7784BF636B}"/>
              </a:ext>
            </a:extLst>
          </p:cNvPr>
          <p:cNvSpPr txBox="1"/>
          <p:nvPr/>
        </p:nvSpPr>
        <p:spPr>
          <a:xfrm>
            <a:off x="8350180" y="4698475"/>
            <a:ext cx="681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2507756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>
          <a:extLst>
            <a:ext uri="{FF2B5EF4-FFF2-40B4-BE49-F238E27FC236}">
              <a16:creationId xmlns:a16="http://schemas.microsoft.com/office/drawing/2014/main" id="{7E26FD93-617C-A692-A9B9-D624C5F1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>
            <a:extLst>
              <a:ext uri="{FF2B5EF4-FFF2-40B4-BE49-F238E27FC236}">
                <a16:creationId xmlns:a16="http://schemas.microsoft.com/office/drawing/2014/main" id="{01F3239E-02C4-557A-8725-91BB38A22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PDLPR results</a:t>
            </a:r>
            <a:endParaRPr sz="2800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BB60E403-B13C-1E7C-C256-F32F239CB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82583"/>
              </p:ext>
            </p:extLst>
          </p:nvPr>
        </p:nvGraphicFramePr>
        <p:xfrm>
          <a:off x="321547" y="1318497"/>
          <a:ext cx="8531050" cy="32082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3105">
                  <a:extLst>
                    <a:ext uri="{9D8B030D-6E8A-4147-A177-3AD203B41FA5}">
                      <a16:colId xmlns:a16="http://schemas.microsoft.com/office/drawing/2014/main" val="2971400418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055012077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62012048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139741373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47432201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841330371"/>
                    </a:ext>
                  </a:extLst>
                </a:gridCol>
                <a:gridCol w="826979">
                  <a:extLst>
                    <a:ext uri="{9D8B030D-6E8A-4147-A177-3AD203B41FA5}">
                      <a16:colId xmlns:a16="http://schemas.microsoft.com/office/drawing/2014/main" val="120667152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837845095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122859191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359995384"/>
                    </a:ext>
                  </a:extLst>
                </a:gridCol>
              </a:tblGrid>
              <a:tr h="3915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it-IT" sz="1200" b="1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8716341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samples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40000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30216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20611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10053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50003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20967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10132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9999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150K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7365037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avg loss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0.1096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0.0922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0.0552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0.1178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0.1206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0.1511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0.0080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0.1096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0.1115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5262040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acc/char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99.45%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96.74%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97.44%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98.74%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97.11%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96.82%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96.02%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99.78%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97.76%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5871040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plate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99.07%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82.22%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85.83%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92.86%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85.94%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84.27%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80.04%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98.46%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89.59%</a:t>
                      </a:r>
                      <a:endParaRPr lang="it-IT" sz="120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2655538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ECD9FC-49EF-DE3B-A6F2-F2CA57F04B08}"/>
              </a:ext>
            </a:extLst>
          </p:cNvPr>
          <p:cNvSpPr txBox="1"/>
          <p:nvPr/>
        </p:nvSpPr>
        <p:spPr>
          <a:xfrm>
            <a:off x="8350180" y="4698475"/>
            <a:ext cx="681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229927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DE18478-5583-9476-178B-A94BADFC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000" dirty="0" err="1"/>
              <a:t>Accuracy</a:t>
            </a:r>
            <a:r>
              <a:rPr lang="it-IT" sz="2000" dirty="0"/>
              <a:t> for </a:t>
            </a:r>
            <a:r>
              <a:rPr lang="it-IT" sz="2000" dirty="0" err="1"/>
              <a:t>character</a:t>
            </a:r>
            <a:r>
              <a:rPr lang="it-IT" sz="2000" dirty="0"/>
              <a:t> position (</a:t>
            </a:r>
            <a:r>
              <a:rPr lang="it-IT" sz="2000" dirty="0" err="1"/>
              <a:t>ccpd-weather</a:t>
            </a:r>
            <a:r>
              <a:rPr lang="it-IT" sz="2000" dirty="0"/>
              <a:t>)</a:t>
            </a:r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88C21AB5-15B4-FC28-FE07-15E80987A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765628"/>
              </p:ext>
            </p:extLst>
          </p:nvPr>
        </p:nvGraphicFramePr>
        <p:xfrm>
          <a:off x="1267689" y="1054676"/>
          <a:ext cx="6717723" cy="378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C94173-2D85-6480-0478-A180DDA44C76}"/>
              </a:ext>
            </a:extLst>
          </p:cNvPr>
          <p:cNvSpPr txBox="1"/>
          <p:nvPr/>
        </p:nvSpPr>
        <p:spPr>
          <a:xfrm>
            <a:off x="8289890" y="4698475"/>
            <a:ext cx="742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460930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6E5D256E-D33F-D890-6B3A-E9A90B46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43F4D970-FD7C-95AA-5E37-4DEA8378DF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Most common letter and number confusions (1)</a:t>
            </a:r>
            <a:endParaRPr sz="20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5EF5216F-26BA-967D-DF0E-8B0C661E88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000446"/>
              </p:ext>
            </p:extLst>
          </p:nvPr>
        </p:nvGraphicFramePr>
        <p:xfrm>
          <a:off x="1695450" y="101772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C4E3B3-2FCB-D22F-08E4-0AD144AFDA80}"/>
              </a:ext>
            </a:extLst>
          </p:cNvPr>
          <p:cNvSpPr txBox="1"/>
          <p:nvPr/>
        </p:nvSpPr>
        <p:spPr>
          <a:xfrm>
            <a:off x="8315011" y="4698475"/>
            <a:ext cx="716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2340942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9D34C1BE-5AD3-5E83-AF6E-2D8392D3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F495C3FD-1004-FA6B-BCBB-577D871D3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Most common letter and number confusions (2)</a:t>
            </a:r>
            <a:endParaRPr sz="20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0B759D83-6C4C-5108-1710-6F3DE767F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427501"/>
              </p:ext>
            </p:extLst>
          </p:nvPr>
        </p:nvGraphicFramePr>
        <p:xfrm>
          <a:off x="1695450" y="101772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0A78BE-D3ED-89EB-1628-E14FBE9831B7}"/>
              </a:ext>
            </a:extLst>
          </p:cNvPr>
          <p:cNvSpPr txBox="1"/>
          <p:nvPr/>
        </p:nvSpPr>
        <p:spPr>
          <a:xfrm>
            <a:off x="8320035" y="4698475"/>
            <a:ext cx="711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2025094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7A16B54D-B5F2-58EF-1A36-CACD041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14524B6A-D309-511B-5B14-FCE8ADFC3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Conclusions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" name="Google Shape;1532;p39">
            <a:extLst>
              <a:ext uri="{FF2B5EF4-FFF2-40B4-BE49-F238E27FC236}">
                <a16:creationId xmlns:a16="http://schemas.microsoft.com/office/drawing/2014/main" id="{D6A2443F-C37D-9FA9-E2D3-6B23D2613D1A}"/>
              </a:ext>
            </a:extLst>
          </p:cNvPr>
          <p:cNvSpPr txBox="1">
            <a:spLocks/>
          </p:cNvSpPr>
          <p:nvPr/>
        </p:nvSpPr>
        <p:spPr>
          <a:xfrm>
            <a:off x="719999" y="1177071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The specialized </a:t>
            </a:r>
            <a:r>
              <a:rPr lang="en-US" b="1" dirty="0"/>
              <a:t>YOLOv5 + PDLPR pipeline </a:t>
            </a:r>
            <a:r>
              <a:rPr lang="en-US" dirty="0"/>
              <a:t>delivers superior results, while </a:t>
            </a:r>
            <a:r>
              <a:rPr lang="en-US" b="1" dirty="0"/>
              <a:t>ResNet18</a:t>
            </a:r>
            <a:r>
              <a:rPr lang="en-US" dirty="0"/>
              <a:t>, a general-purpose model, achieves comparable performance with significantly faster training and easier management.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ResNet18 OCR and PDLPR show </a:t>
            </a:r>
            <a:r>
              <a:rPr lang="en-US" b="1" dirty="0"/>
              <a:t>comparable performance</a:t>
            </a:r>
            <a:r>
              <a:rPr lang="en-US" dirty="0"/>
              <a:t>, as ResNet18 demonstrates superior character recognition capabilities. However, ResNet18 falls slightly behind in bounding box detection, though it still delivers absolutely acceptable results that meet project requirements.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Both approaches effectively deliver the desired outcomes while offering distinct advantages in specialization versus versatility.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E05A14-0F41-81C1-6A54-5D81E742C40D}"/>
              </a:ext>
            </a:extLst>
          </p:cNvPr>
          <p:cNvSpPr txBox="1"/>
          <p:nvPr/>
        </p:nvSpPr>
        <p:spPr>
          <a:xfrm>
            <a:off x="8335108" y="4698475"/>
            <a:ext cx="696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63650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7BB70CBF-8C65-898F-A97B-E61A90F0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336BF431-9AE9-F359-B159-582676842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Future works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" name="Google Shape;1532;p39">
            <a:extLst>
              <a:ext uri="{FF2B5EF4-FFF2-40B4-BE49-F238E27FC236}">
                <a16:creationId xmlns:a16="http://schemas.microsoft.com/office/drawing/2014/main" id="{8100DE81-D599-4FB3-9B93-45240D4C7DA5}"/>
              </a:ext>
            </a:extLst>
          </p:cNvPr>
          <p:cNvSpPr txBox="1">
            <a:spLocks/>
          </p:cNvSpPr>
          <p:nvPr/>
        </p:nvSpPr>
        <p:spPr>
          <a:xfrm>
            <a:off x="418663" y="1589973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9EC34C5-87AF-7429-499A-51573A7D0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1" y="1335113"/>
            <a:ext cx="733815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would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interesting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evaluate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the model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proposed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the paper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YOLOv11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latest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version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the YOLO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architecture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to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potentially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improve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Testing the model on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additional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datasets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would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help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assess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flexibility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generalization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capabilities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especially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types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across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various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regions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or formats.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E157533-0082-5102-AB0D-EA055D3BC11D}"/>
              </a:ext>
            </a:extLst>
          </p:cNvPr>
          <p:cNvSpPr txBox="1"/>
          <p:nvPr/>
        </p:nvSpPr>
        <p:spPr>
          <a:xfrm>
            <a:off x="8360229" y="4698475"/>
            <a:ext cx="671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987648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5BE0FC51-4D57-4CD5-6F84-FDCE350F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72E86E58-83BA-6A22-0004-9CB16BD77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Reference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>
            <a:extLst>
              <a:ext uri="{FF2B5EF4-FFF2-40B4-BE49-F238E27FC236}">
                <a16:creationId xmlns:a16="http://schemas.microsoft.com/office/drawing/2014/main" id="{53B40D23-C1DE-EF0F-F6EA-0286FB8B805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21547" y="1762230"/>
            <a:ext cx="8254721" cy="33812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1. Tao, L., A Real-Time License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Model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Unconstrained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Scenarios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Sensors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 Hong, S.,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Y., Chen, Y., He, P.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Tie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Z. (2024). 24(9), 2791</a:t>
            </a:r>
          </a:p>
          <a:p>
            <a:pPr fontAlgn="base"/>
            <a:endParaRPr lang="it-IT" sz="1200" b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Xu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Z.; Yang, W.;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Meng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A.; Lu, N.; Huang, H.; Ying, C.; Huang, L.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Towards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end-to-end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plate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: A large dataset and baseline.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Proceedings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of the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European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Conference on Computer Vision (ECCV),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Munich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Germany, 8–14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September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2018.</a:t>
            </a:r>
          </a:p>
          <a:p>
            <a:pPr fontAlgn="base"/>
            <a:endParaRPr lang="it-IT" sz="1200" b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3. R. K.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Prajapati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Y.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Bhardwaj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R. K. Jain and D. Kamal Kant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Hiran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”A Review Paper on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Automatic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Machine Learning : An In-Depth Analysis of Machine Learning Techniques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Automatic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Opportunities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Limitations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,” 2023 International Conference on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Computational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Intelligence,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Communication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Technology and Networking (CICTN),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Ghaziabad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India, 2023, pp. 527-532</a:t>
            </a:r>
          </a:p>
          <a:p>
            <a:br>
              <a:rPr lang="it-IT" dirty="0"/>
            </a:b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544771-3BBF-E7A4-D396-3B8736D84E06}"/>
              </a:ext>
            </a:extLst>
          </p:cNvPr>
          <p:cNvSpPr txBox="1"/>
          <p:nvPr/>
        </p:nvSpPr>
        <p:spPr>
          <a:xfrm>
            <a:off x="8325059" y="4698475"/>
            <a:ext cx="706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2573458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705C4392-7FB2-9875-D1BE-91C2D113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>
            <a:extLst>
              <a:ext uri="{FF2B5EF4-FFF2-40B4-BE49-F238E27FC236}">
                <a16:creationId xmlns:a16="http://schemas.microsoft.com/office/drawing/2014/main" id="{4F92FBB0-D0BE-CF50-41AA-801C004E6D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3200" dirty="0">
                <a:solidFill>
                  <a:schemeClr val="dk2"/>
                </a:solidFill>
              </a:rPr>
              <a:t>Tha</a:t>
            </a:r>
            <a:r>
              <a:rPr lang="it-IT" sz="3200" dirty="0"/>
              <a:t>nks for </a:t>
            </a:r>
            <a:r>
              <a:rPr lang="it-IT" sz="3200" dirty="0" err="1"/>
              <a:t>your</a:t>
            </a:r>
            <a:r>
              <a:rPr lang="it-IT" sz="3200" dirty="0"/>
              <a:t> </a:t>
            </a:r>
            <a:r>
              <a:rPr lang="it-IT" sz="3200" dirty="0" err="1"/>
              <a:t>attention</a:t>
            </a:r>
            <a:endParaRPr sz="32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>
            <a:extLst>
              <a:ext uri="{FF2B5EF4-FFF2-40B4-BE49-F238E27FC236}">
                <a16:creationId xmlns:a16="http://schemas.microsoft.com/office/drawing/2014/main" id="{1BBF908E-D2FC-8AC6-BA70-B4EC8AC23A63}"/>
              </a:ext>
            </a:extLst>
          </p:cNvPr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>
              <a:extLst>
                <a:ext uri="{FF2B5EF4-FFF2-40B4-BE49-F238E27FC236}">
                  <a16:creationId xmlns:a16="http://schemas.microsoft.com/office/drawing/2014/main" id="{DE43356A-8136-C6DE-E0C2-5A0EB970F820}"/>
                </a:ext>
              </a:extLst>
            </p:cNvPr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>
              <a:extLst>
                <a:ext uri="{FF2B5EF4-FFF2-40B4-BE49-F238E27FC236}">
                  <a16:creationId xmlns:a16="http://schemas.microsoft.com/office/drawing/2014/main" id="{EEC7408D-73A1-2BE1-0A4A-3F53D3021640}"/>
                </a:ext>
              </a:extLst>
            </p:cNvPr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>
                <a:extLst>
                  <a:ext uri="{FF2B5EF4-FFF2-40B4-BE49-F238E27FC236}">
                    <a16:creationId xmlns:a16="http://schemas.microsoft.com/office/drawing/2014/main" id="{00ED74EE-284A-B5F8-F155-8534143FB006}"/>
                  </a:ext>
                </a:extLst>
              </p:cNvPr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>
                <a:extLst>
                  <a:ext uri="{FF2B5EF4-FFF2-40B4-BE49-F238E27FC236}">
                    <a16:creationId xmlns:a16="http://schemas.microsoft.com/office/drawing/2014/main" id="{2444FFA2-1F6C-BB0C-0BE2-E562C5B8197B}"/>
                  </a:ext>
                </a:extLst>
              </p:cNvPr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>
            <a:extLst>
              <a:ext uri="{FF2B5EF4-FFF2-40B4-BE49-F238E27FC236}">
                <a16:creationId xmlns:a16="http://schemas.microsoft.com/office/drawing/2014/main" id="{0B086D2C-E283-0B87-5DA9-9E750AF06AD6}"/>
              </a:ext>
            </a:extLst>
          </p:cNvPr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>
              <a:extLst>
                <a:ext uri="{FF2B5EF4-FFF2-40B4-BE49-F238E27FC236}">
                  <a16:creationId xmlns:a16="http://schemas.microsoft.com/office/drawing/2014/main" id="{E55ED017-8C24-7100-21CC-98E0063F456B}"/>
                </a:ext>
              </a:extLst>
            </p:cNvPr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>
              <a:extLst>
                <a:ext uri="{FF2B5EF4-FFF2-40B4-BE49-F238E27FC236}">
                  <a16:creationId xmlns:a16="http://schemas.microsoft.com/office/drawing/2014/main" id="{62966DCE-BB21-0201-2F1C-467882196E67}"/>
                </a:ext>
              </a:extLst>
            </p:cNvPr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>
              <a:extLst>
                <a:ext uri="{FF2B5EF4-FFF2-40B4-BE49-F238E27FC236}">
                  <a16:creationId xmlns:a16="http://schemas.microsoft.com/office/drawing/2014/main" id="{4CC2D224-E451-8582-0B87-21C022F34D7B}"/>
                </a:ext>
              </a:extLst>
            </p:cNvPr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>
            <a:extLst>
              <a:ext uri="{FF2B5EF4-FFF2-40B4-BE49-F238E27FC236}">
                <a16:creationId xmlns:a16="http://schemas.microsoft.com/office/drawing/2014/main" id="{99B3E1AC-C377-A611-0335-E1BCDDB34680}"/>
              </a:ext>
            </a:extLst>
          </p:cNvPr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>
              <a:extLst>
                <a:ext uri="{FF2B5EF4-FFF2-40B4-BE49-F238E27FC236}">
                  <a16:creationId xmlns:a16="http://schemas.microsoft.com/office/drawing/2014/main" id="{DD18E169-C5FE-7D76-A9C6-58ED3D5F5A0A}"/>
                </a:ext>
              </a:extLst>
            </p:cNvPr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>
              <a:extLst>
                <a:ext uri="{FF2B5EF4-FFF2-40B4-BE49-F238E27FC236}">
                  <a16:creationId xmlns:a16="http://schemas.microsoft.com/office/drawing/2014/main" id="{F906A2B0-404D-8A61-358E-459187A161C2}"/>
                </a:ext>
              </a:extLst>
            </p:cNvPr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>
                <a:extLst>
                  <a:ext uri="{FF2B5EF4-FFF2-40B4-BE49-F238E27FC236}">
                    <a16:creationId xmlns:a16="http://schemas.microsoft.com/office/drawing/2014/main" id="{5C5F24EB-9204-478B-B305-B0FD413EA5AA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>
                <a:extLst>
                  <a:ext uri="{FF2B5EF4-FFF2-40B4-BE49-F238E27FC236}">
                    <a16:creationId xmlns:a16="http://schemas.microsoft.com/office/drawing/2014/main" id="{4B1A7FEA-63B9-272E-DD46-B46F3B1622CF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>
              <a:extLst>
                <a:ext uri="{FF2B5EF4-FFF2-40B4-BE49-F238E27FC236}">
                  <a16:creationId xmlns:a16="http://schemas.microsoft.com/office/drawing/2014/main" id="{F31427F8-C4A0-E6EA-597D-16E439E7B4E7}"/>
                </a:ext>
              </a:extLst>
            </p:cNvPr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>
                <a:extLst>
                  <a:ext uri="{FF2B5EF4-FFF2-40B4-BE49-F238E27FC236}">
                    <a16:creationId xmlns:a16="http://schemas.microsoft.com/office/drawing/2014/main" id="{79EEB198-390C-4637-6BB2-BAB0FD4A11B3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>
                <a:extLst>
                  <a:ext uri="{FF2B5EF4-FFF2-40B4-BE49-F238E27FC236}">
                    <a16:creationId xmlns:a16="http://schemas.microsoft.com/office/drawing/2014/main" id="{D600E613-CD44-75D1-F44D-044E7EE965B2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>
              <a:extLst>
                <a:ext uri="{FF2B5EF4-FFF2-40B4-BE49-F238E27FC236}">
                  <a16:creationId xmlns:a16="http://schemas.microsoft.com/office/drawing/2014/main" id="{A4B316F6-E9AF-79F5-2C12-5FC98F82453E}"/>
                </a:ext>
              </a:extLst>
            </p:cNvPr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>
                <a:extLst>
                  <a:ext uri="{FF2B5EF4-FFF2-40B4-BE49-F238E27FC236}">
                    <a16:creationId xmlns:a16="http://schemas.microsoft.com/office/drawing/2014/main" id="{057C85E6-074D-5DB8-97ED-5313158ACBC7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>
                <a:extLst>
                  <a:ext uri="{FF2B5EF4-FFF2-40B4-BE49-F238E27FC236}">
                    <a16:creationId xmlns:a16="http://schemas.microsoft.com/office/drawing/2014/main" id="{1F795FA9-E311-1FD8-6B3A-594B25825582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>
              <a:extLst>
                <a:ext uri="{FF2B5EF4-FFF2-40B4-BE49-F238E27FC236}">
                  <a16:creationId xmlns:a16="http://schemas.microsoft.com/office/drawing/2014/main" id="{28885C34-2641-19E3-B551-C6B31E7B20DE}"/>
                </a:ext>
              </a:extLst>
            </p:cNvPr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19967185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Poppins" panose="00000500000000000000" pitchFamily="2" charset="0"/>
            <a:cs typeface="Poppins" panose="00000500000000000000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1013</Words>
  <Application>Microsoft Office PowerPoint</Application>
  <PresentationFormat>Presentazione su schermo (16:9)</PresentationFormat>
  <Paragraphs>327</Paragraphs>
  <Slides>21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8" baseType="lpstr">
      <vt:lpstr>IBM Plex Mono</vt:lpstr>
      <vt:lpstr>Poppins</vt:lpstr>
      <vt:lpstr>Source Code Pro</vt:lpstr>
      <vt:lpstr>Cambria Math</vt:lpstr>
      <vt:lpstr>Open Sans</vt:lpstr>
      <vt:lpstr>Arial</vt:lpstr>
      <vt:lpstr>Introduction to Coding Workshop by Slidesgo</vt:lpstr>
      <vt:lpstr>Car Plate Recognition and Reconstruction with Deep Learning</vt:lpstr>
      <vt:lpstr>Outline</vt:lpstr>
      <vt:lpstr>Introduction</vt:lpstr>
      <vt:lpstr>Yolov5-PDLPR Architecture Overview</vt:lpstr>
      <vt:lpstr>How PDLPR works </vt:lpstr>
      <vt:lpstr>ResNet18 Architecture Overview</vt:lpstr>
      <vt:lpstr>Linear layer OCR/BB</vt:lpstr>
      <vt:lpstr>CCPD (Chinese City Parking Dataset)</vt:lpstr>
      <vt:lpstr>Examples of possible car plates</vt:lpstr>
      <vt:lpstr>The Experimental setup (1)</vt:lpstr>
      <vt:lpstr>The Experimental setup (2)</vt:lpstr>
      <vt:lpstr>Yolov5 and RN18 BB results</vt:lpstr>
      <vt:lpstr>RN18 OCR results</vt:lpstr>
      <vt:lpstr>PDLPR results</vt:lpstr>
      <vt:lpstr>Accuracy for character position (ccpd-weather)</vt:lpstr>
      <vt:lpstr>Most common letter and number confusions (1)</vt:lpstr>
      <vt:lpstr>Most common letter and number confusions (2)</vt:lpstr>
      <vt:lpstr>Conclusions</vt:lpstr>
      <vt:lpstr>Future works</vt:lpstr>
      <vt:lpstr>Reference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Federica S</dc:creator>
  <cp:lastModifiedBy>Federica Sardo</cp:lastModifiedBy>
  <cp:revision>17</cp:revision>
  <dcterms:modified xsi:type="dcterms:W3CDTF">2025-07-22T16:51:49Z</dcterms:modified>
</cp:coreProperties>
</file>